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bysse8/ac194e7e-6269-5e67-b723-29d3d107b6da/scratchpad/oldmedia/image-14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0"/>
            <a:ext cx="5852160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36792" y="3291840"/>
            <a:ext cx="5852160" cy="3566160"/>
          </a:xfrm>
          <a:prstGeom prst="rect">
            <a:avLst/>
          </a:prstGeom>
          <a:solidFill>
            <a:srgbClr val="13273D"/>
          </a:solidFill>
          <a:ln/>
        </p:spPr>
      </p:sp>
      <p:sp>
        <p:nvSpPr>
          <p:cNvPr id="4" name="Text 1"/>
          <p:cNvSpPr/>
          <p:nvPr/>
        </p:nvSpPr>
        <p:spPr>
          <a:xfrm>
            <a:off x="662940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Girouette Hanover réelle, pilotée par l'ESP32 SVT — sans logiciel vendeur.</a:t>
            </a:r>
            <a:endParaRPr lang="en-US" sz="1100" dirty="0"/>
          </a:p>
        </p:txBody>
      </p:sp>
      <p:pic>
        <p:nvPicPr>
          <p:cNvPr id="5" name="Image 1" descr="/tmp/claude-0/-home-user-abysse8/ac194e7e-6269-5e67-b723-29d3d107b6da/scratchpad/stockuc-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931920"/>
            <a:ext cx="969264" cy="2432304"/>
          </a:xfrm>
          <a:prstGeom prst="rect">
            <a:avLst/>
          </a:prstGeom>
        </p:spPr>
      </p:pic>
      <p:pic>
        <p:nvPicPr>
          <p:cNvPr id="6" name="Image 2" descr="/tmp/claude-0/-home-user-abysse8/ac194e7e-6269-5e67-b723-29d3d107b6da/scratchpad/stockuc-cop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931920"/>
            <a:ext cx="1069848" cy="243230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509760" y="4480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 en production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caméra et vue COPIL,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téléphones de l'équipe.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594360" y="777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·  AOÛT 2026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66928" y="114300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SCAN TERRAIN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RAPPORT CLIENT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594360" y="3017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UC, l'usine à rapports, le contrôleur universel de girouettes, l'exploitation en direct — une chaîne d'outils construite de bout en bout pour SVT.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94360" y="425196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12" name="Text 7"/>
          <p:cNvSpPr/>
          <p:nvPr/>
        </p:nvSpPr>
        <p:spPr>
          <a:xfrm>
            <a:off x="594360" y="4244645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1965960" y="425196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4" name="Text 9"/>
          <p:cNvSpPr/>
          <p:nvPr/>
        </p:nvSpPr>
        <p:spPr>
          <a:xfrm>
            <a:off x="1965960" y="4244645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337560" y="425196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16" name="Text 11"/>
          <p:cNvSpPr/>
          <p:nvPr/>
        </p:nvSpPr>
        <p:spPr>
          <a:xfrm>
            <a:off x="3337560" y="4244645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709160" y="425196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18" name="Text 13"/>
          <p:cNvSpPr/>
          <p:nvPr/>
        </p:nvSpPr>
        <p:spPr>
          <a:xfrm>
            <a:off x="4709160" y="4244645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943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Abdou Gonzales  ·  portfolio &amp; proposition de stage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STOCK UC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l'idée de Josué à la poche de l'équipe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les entrants et sortants pour prévenir les manques en fin de chantier — et suivre le passage « reçu → programmé » demandé pour le COPIL.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6675120" cy="2834640"/>
          </a:xfrm>
          <a:prstGeom prst="roundRect">
            <a:avLst>
              <a:gd name="adj" fmla="val 2903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6172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 les équipements billettiques à l'arrivée (UC, valideurs, switches, routeurs, alimentations…), puis les suivre d'état en état jusqu'à la pose.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réponse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web app zéro installation, ouverte depuis n'importe quel téléphone — caméra, douchette USB/Bluetooth ou saisie manuelle, en rafale.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téléphones parlent à la même base : la vue COPIL et le journal sont identiques pour toute l'équipe, en direct. PIN d'équipe vérifié côté serveur.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Traçée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changement d'état est daté et journalisé ; un mode Suppression retire un code en gardant la trace du mouvement.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49560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DE VIE, EN COULEURS D'ÉTAT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534924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534192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528523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020824" y="534924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20824" y="534192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55264" y="528523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538728" y="534924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17" name="Text 15"/>
          <p:cNvSpPr/>
          <p:nvPr/>
        </p:nvSpPr>
        <p:spPr>
          <a:xfrm>
            <a:off x="3538728" y="534192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73168" y="5285232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56632" y="534924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20" name="Text 18"/>
          <p:cNvSpPr/>
          <p:nvPr/>
        </p:nvSpPr>
        <p:spPr>
          <a:xfrm>
            <a:off x="5056632" y="534192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833872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826557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Défectueux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87452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n'importe quel état · re-scan = flash plein écran de la couleur de l'état courant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1920240"/>
            <a:ext cx="4224528" cy="4343400"/>
          </a:xfrm>
          <a:prstGeom prst="roundRect">
            <a:avLst>
              <a:gd name="adj" fmla="val 1948"/>
            </a:avLst>
          </a:prstGeom>
          <a:solidFill>
            <a:srgbClr val="1A3350"/>
          </a:solidFill>
          <a:ln w="9525">
            <a:solidFill>
              <a:srgbClr val="2C4A6B"/>
            </a:solidFill>
            <a:prstDash val="solid"/>
          </a:ln>
        </p:spPr>
      </p:sp>
      <p:pic>
        <p:nvPicPr>
          <p:cNvPr id="25" name="Image 0" descr="/tmp/claude-0/-home-user-abysse8/ac194e7e-6269-5e67-b723-29d3d107b6da/scratchpad/stockuc-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148840"/>
            <a:ext cx="1554480" cy="390448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464040" y="2286000"/>
            <a:ext cx="2057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L'UI de scan, pensée techniciens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plein écran, fenêtre de visée, ligne laser, lampe torche, écran maintenu allumé — et les chips d'étape en haut pour changer de mode sans quitter le scan.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STOCK UC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 : simple dehors, sérieux dedans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 de terrain n'a pas le droit de perdre un scan, ni d'accepter un code fantôme.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675888" cy="2084832"/>
          </a:xfrm>
          <a:prstGeom prst="roundRect">
            <a:avLst>
              <a:gd name="adj" fmla="val 394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093976"/>
            <a:ext cx="146304" cy="14630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199339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SCAN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4088" y="2386584"/>
            <a:ext cx="3273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Décodeur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détecteur natif du navigateur (Android), sinon ZXing C++ compilé en WebAssembly, embarqué dans le fichier.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décodage pleine résolution 1920×1080, ~9 img/s — ~0,4 s pour lire un code sur iPhone.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874520"/>
            <a:ext cx="3675888" cy="2084832"/>
          </a:xfrm>
          <a:prstGeom prst="roundRect">
            <a:avLst>
              <a:gd name="adj" fmla="val 394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4568" y="2093976"/>
            <a:ext cx="146304" cy="146304"/>
          </a:xfrm>
          <a:prstGeom prst="ellipse">
            <a:avLst/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199339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PARTAGÉE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4568" y="2386584"/>
            <a:ext cx="3273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serverless Vercel + Upstash Redis — 6 endpoints (scan, stock, journal, item, health, cleanup).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d'équipe (header x-svt-pin) vérifié côté serveur, mémorisé sur l'appareil.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874520"/>
            <a:ext cx="3675888" cy="2084832"/>
          </a:xfrm>
          <a:prstGeom prst="roundRect">
            <a:avLst>
              <a:gd name="adj" fmla="val 394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5048" y="2093976"/>
            <a:ext cx="146304" cy="146304"/>
          </a:xfrm>
          <a:prstGeom prst="ellipse">
            <a:avLst/>
          </a:prstGeom>
          <a:solidFill>
            <a:srgbClr val="3FCF6E"/>
          </a:solidFill>
          <a:ln/>
        </p:spPr>
      </p:sp>
      <p:sp>
        <p:nvSpPr>
          <p:cNvPr id="17" name="Text 15"/>
          <p:cNvSpPr/>
          <p:nvPr/>
        </p:nvSpPr>
        <p:spPr>
          <a:xfrm>
            <a:off x="8622792" y="1993392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85048" y="2386584"/>
            <a:ext cx="3273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Hors-ligne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locale + envoi automatique au retour du signal — on ne perd jamais un scan.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Anti-fantômes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préfixes canoniques (UCEMB, VALID, ROUTE…) ; codes normalisés, sans préfixe = refus net.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123944"/>
            <a:ext cx="3675888" cy="2084832"/>
          </a:xfrm>
          <a:prstGeom prst="roundRect">
            <a:avLst>
              <a:gd name="adj" fmla="val 394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343400"/>
            <a:ext cx="146304" cy="146304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" y="424281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 &amp; EXPORT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" y="4636008"/>
            <a:ext cx="3273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COPIL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type × état avec totaux, rafraîchi après chaque scan et toutes les 30 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feuilles — Stock (dates par état), COPIL (matrice), Journal (mouvements).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43400" y="4123944"/>
            <a:ext cx="3675888" cy="2084832"/>
          </a:xfrm>
          <a:prstGeom prst="roundRect">
            <a:avLst>
              <a:gd name="adj" fmla="val 394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4343400"/>
            <a:ext cx="146304" cy="14630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424281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PROUVÉE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4568" y="4636008"/>
            <a:ext cx="3273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tests API + 17 tests e2e Playwright, tous verts (harnais Express + mock Redis).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traqués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bugs caméra diagnostiqués et corrigés, preuve à l'appui (zone de scan largeur 0, décodage basse résolution).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83880" y="4123944"/>
            <a:ext cx="3675888" cy="2084832"/>
          </a:xfrm>
          <a:prstGeom prst="roundRect">
            <a:avLst>
              <a:gd name="adj" fmla="val 394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85048" y="4343400"/>
            <a:ext cx="146304" cy="146304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29" name="Text 27"/>
          <p:cNvSpPr/>
          <p:nvPr/>
        </p:nvSpPr>
        <p:spPr>
          <a:xfrm>
            <a:off x="8622792" y="4242816"/>
            <a:ext cx="31272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ERGONOMIE TERRAIN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385048" y="4636008"/>
            <a:ext cx="32735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haptique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coup = déplacé, triple = refusé ; flash plein écran couleur d'état au re-scan.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—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Glass — la base UI commune à tous les outils SVT (design/svt-glass.css).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STOCK UC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— adopté pendant les réceptions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du terrain, 6 août : la vue COPIL en direct sur un téléphone de l'équipe.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3108960" cy="4343400"/>
          </a:xfrm>
          <a:prstGeom prst="roundRect">
            <a:avLst>
              <a:gd name="adj" fmla="val 2647"/>
            </a:avLst>
          </a:prstGeom>
          <a:solidFill>
            <a:srgbClr val="1A3350"/>
          </a:solidFill>
          <a:ln w="9525">
            <a:solidFill>
              <a:srgbClr val="2C4A6B"/>
            </a:solidFill>
            <a:prstDash val="solid"/>
          </a:ln>
        </p:spPr>
      </p:sp>
      <p:pic>
        <p:nvPicPr>
          <p:cNvPr id="8" name="Image 0" descr="/tmp/claude-0/-home-user-abysse8/ac194e7e-6269-5e67-b723-29d3d107b6da/scratchpad/stockuc-cop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1691640" cy="3840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94760" y="1874520"/>
            <a:ext cx="7882128" cy="1481328"/>
          </a:xfrm>
          <a:prstGeom prst="roundRect">
            <a:avLst>
              <a:gd name="adj" fmla="val 5556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20299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931920" y="2706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suivis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852160" y="20299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5852160" y="2706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d'équipements,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chacun sa ligne COPIL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0" y="20299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7772400" y="2706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passés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« Programmé »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692640" y="20299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9692640" y="2706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perdu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hors-ligne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794760" y="3520440"/>
            <a:ext cx="7882128" cy="2697480"/>
          </a:xfrm>
          <a:prstGeom prst="roundRect">
            <a:avLst>
              <a:gd name="adj" fmla="val 3051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69080" y="3703320"/>
            <a:ext cx="7360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Demandée par le terrain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répond à un besoin exprimé par Josué — le suivi du matériel entrant/sortant — et au passage « reçu → programmé » attendu au COPIL.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Déployée en vrai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sur svt-communication.vercel.app, partagée à l'équipe par simple lien — aucun déploiement de flotte, aucune installation.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en rafale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scannée carton par carton, la vue COPIL se remplit en direct ; l'export Excel sort la synthèse en un geste.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pistes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d'une liste attendue (CSV) pour pointer les manquants par chantier ; historique détaillé par équipement au tap.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PANORAMA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chaîne d'outils qui se répond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brique nourrit la suivante : le terrain produit des preuves, les preuves font les rapports, les rapports éclairent le COPIL, le COPIL pilote le terrain.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2724912" cy="3520440"/>
          </a:xfrm>
          <a:prstGeom prst="roundRect">
            <a:avLst>
              <a:gd name="adj" fmla="val 302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860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78685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267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suivi du matériel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SMS RUT241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piloté par texto en LTE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caméra Mobitec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 autonome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des UC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unités en parallèle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057400"/>
            <a:ext cx="2724912" cy="3520440"/>
          </a:xfrm>
          <a:prstGeom prst="roundRect">
            <a:avLst>
              <a:gd name="adj" fmla="val 302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22860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2278685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4448" y="2788920"/>
            <a:ext cx="2267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Synchroteam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67 932 interventions miroir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COPIL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site-first, 899 sites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métier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identifiant à mémoriser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MCP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pour les 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057400"/>
            <a:ext cx="2724912" cy="3520440"/>
          </a:xfrm>
          <a:prstGeom prst="roundRect">
            <a:avLst>
              <a:gd name="adj" fmla="val 302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2860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278685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37376" y="2788920"/>
            <a:ext cx="2267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Usine à rapports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→ études DOCX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/rapport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est l'interface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3D headless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planches d'implantation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miné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Mo de rapports validés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61704" y="2057400"/>
            <a:ext cx="2724912" cy="3520440"/>
          </a:xfrm>
          <a:prstGeom prst="roundRect">
            <a:avLst>
              <a:gd name="adj" fmla="val 302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0304" y="22860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9290304" y="2278685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90304" y="2788920"/>
            <a:ext cx="2267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girouettes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Hanover · Mobitec · Lumiplan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ESP32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bus RS485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KiCad v1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un boîtier de série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KV260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vidéo en cours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volant : terrain → preuves → rapports → COPIL → terrain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RAPPORT AUTOMATISÉ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L'usine à rapports : preuves → études DOCX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livrable le plus coûteux de l'entreprise — les Études véhicules pour des clients comme KEOLIS — généré depuis les preuves, relu par des humains.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173968" cy="1417320"/>
          </a:xfrm>
          <a:prstGeom prst="roundRect">
            <a:avLst>
              <a:gd name="adj" fmla="val 5806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34 600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 + React)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83464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18 fichiers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Mo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rapports validés,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minés pour leur langue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22376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de tests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1832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41832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valeurs IA traçables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une preuve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520440"/>
            <a:ext cx="1117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SYNCHROTEAM  →  PAQUETS DE PREUVES  →  MAPPING IA (OPENROUTER)  →  PORTES DE CONFORMITÉ  →  DOCX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406908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5196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est l'interface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cockpit /rapport se lit comme l'étude elle-même : chaque champ est un contrôle en ligne, sa preuve s'affiche à côté, la conformité s'annonce avant l'export.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ancrée, jamais crue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valeur générée porte ses identifiants de preuve ; les suggestions sans ancrage sont mises en quarantaine — pas de preuve, pas de valeur.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069080"/>
            <a:ext cx="5504688" cy="2148840"/>
          </a:xfrm>
          <a:prstGeom prst="roundRect">
            <a:avLst>
              <a:gd name="adj" fmla="val 383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4251960"/>
            <a:ext cx="4983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3D headless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planches d'implantation sont rendues depuis des modèles 3D de bus (10 m et 18 m articulé) dans un navigateur sans écran, puis injectées dans le Word.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stables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images passent par une API versionnée (implantation_docx_images_v1) — chaque système évolue librement sans casser l'autre.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EXPLOITATION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couche de données et le dashboard COPIL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Synchroteam sait « où et qui » — cette couche le rend cherchable, visuel, disponible en permanence. Et Synchroteam reste strictement en lecture seule.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11173968" cy="1417320"/>
          </a:xfrm>
          <a:prstGeom prst="roundRect">
            <a:avLst>
              <a:gd name="adj" fmla="val 5806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67 932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synchronisées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continu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3464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3 600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83464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miroirés,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rafraîchis toutes les 60 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02920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sur la carte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site-first »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22376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22376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+ Caddy + ngrok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machine pag-win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41832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418320" y="268833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COxxxx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mémoriser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5486400" cy="2697480"/>
          </a:xfrm>
          <a:prstGeom prst="roundRect">
            <a:avLst>
              <a:gd name="adj" fmla="val 3051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0332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L'intuition site-first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géolocalise le site, pas le véhicule — donc une pastille par site avec anneau d'état, qui éclate en interventions au clic. Navigation : Site → CO → bus.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métier classée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site, client, technicien, véhicule, type ou famille (« billettique ») — un vrai moteur à scores, pas un grep.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bloqués d'abord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anneaux rouges, chip « N sites à débloquer », deck de cartes trié blocages en tête.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520440"/>
            <a:ext cx="5504688" cy="2697480"/>
          </a:xfrm>
          <a:prstGeom prst="roundRect">
            <a:avLst>
              <a:gd name="adj" fmla="val 3051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703320"/>
            <a:ext cx="4983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couche métier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tables business_* portent ce que Synchroteam n'a pas : suivi COPIL, inventaire, véhicules, préparation des rapports, écarts — importées et lues depuis Google Sheets.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zéro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n'écrit jamais dans Synchroteam ; le serveur MCP pour les assistants IA ouvre même la base en mode lecture seule au niveau de l'OS.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porte d'entrée —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passerelle ngrok + Caddy route 8 chemins publics vers 5 services locaux — un seul tunnel pour tout le parc d'outils.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GIROUETTES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contrôleur universel de girouettes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protocoles, un boîtier SVT — capturer → décoder → rejouer → encapsuler : un playbook écrit, reproductible par tout dev SVT.</a:t>
            </a:r>
            <a:endParaRPr lang="en-US" sz="1350" dirty="0"/>
          </a:p>
        </p:txBody>
      </p:sp>
      <p:pic>
        <p:nvPicPr>
          <p:cNvPr id="7" name="Image 0" descr="/tmp/claude-0/-home-user-abysse8/ac194e7e-6269-5e67-b723-29d3d107b6da/scratchpad/oldmedia/image-14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4754880" cy="2670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617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d'établi : bitmap arbitraire sur girouette Hanover réelle, émis par l'ESP32 — vidéo complète sur abysse8.github.io.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5230368"/>
            <a:ext cx="4754880" cy="987552"/>
          </a:xfrm>
          <a:prstGeom prst="roundRect">
            <a:avLst>
              <a:gd name="adj" fmla="val 8333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37667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L'échelle — </a:t>
            </a:r>
            <a:pPr indent="0" marL="0">
              <a:buNone/>
            </a:pPr>
            <a:r>
              <a:rPr lang="en-US" sz="10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fichiers · ~28 600 lignes Python + ~17 700 lignes C/C++ · espace KiCad v1 ouvert (alim véhicule 24 V, TVS, double RS485).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0" y="1874520"/>
            <a:ext cx="6199632" cy="1371600"/>
          </a:xfrm>
          <a:prstGeom prst="roundRect">
            <a:avLst>
              <a:gd name="adj" fmla="val 600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HANOVER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715000" y="2304288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2296973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26680" y="1984248"/>
            <a:ext cx="37947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Bitmaps arbitraires sur panneau réel ; table de commandes rétro-conçue (init F000, ident 90MB, bitmaps 144×19 et 1360) — confirmée par deux implémentations indépendantes (la nôtre + Hanover_Diag, la suite d'un collègue intégrée avec sa provenance).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5486400" y="3383280"/>
            <a:ext cx="6199632" cy="1371600"/>
          </a:xfrm>
          <a:prstGeom prst="roundRect">
            <a:avLst>
              <a:gd name="adj" fmla="val 600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3493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MOBITEC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15000" y="3813048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0" y="3805733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NATIF DÉCODÉ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26680" y="3493008"/>
            <a:ext cx="37947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 de trame percée par capture-diff (adresse, registres D0-D4, checksum somme &amp; 0xFF) ; texte arbitraire synthétisé et vérifié sur panneau — y compris un test de falsification : une trame au checksum volontairement faux, correctement rejetée.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5486400" y="4892040"/>
            <a:ext cx="6199632" cy="1371600"/>
          </a:xfrm>
          <a:prstGeom prst="roundRect">
            <a:avLst>
              <a:gd name="adj" fmla="val 600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0" y="5001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LUMIPLAN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715000" y="5321808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24" name="Text 21"/>
          <p:cNvSpPr/>
          <p:nvPr/>
        </p:nvSpPr>
        <p:spPr>
          <a:xfrm>
            <a:off x="5715000" y="5314493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DÉCODAGE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726680" y="5001768"/>
            <a:ext cx="37947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à l'analyseur logique annotées action par action ; l'honnêteté est dans le code : STATUS = « investigation » — pas de pilote tant qu'un format de trame réel n'est pas vérifié sur matériel.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TERRAIN AUTOMATISÉ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L'automatisation là où les camions se garent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et bords de route ont rarement un Wi-Fi fiable — le LTE et une webcam suffisent.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95805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SMS · RUT241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routeur LTE Teltonika RUT241 — le même matériel que SVT pose dans les bus — relaie les SMS vers un agent IA de développement sur la machine d'établi : un texto lance un projet, corrige des tests, demande un diff.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par conception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blanche de numéros sur chaque chemin, jeton d'appairage, SMS sortants en simulation par défaut, journaux expurgés des secrets.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dépendance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 standard Python uniquement — rien à auditer ; exposé aux agents locaux comme serveur MCP (5 outils).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Prouvé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tests unitaires, tous verts — vérifiés cette semaine.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504688" cy="3931920"/>
          </a:xfrm>
          <a:prstGeom prst="roundRect">
            <a:avLst>
              <a:gd name="adj" fmla="val 2093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10312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95805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CAMÉRA · MOBITEC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4983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inversé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défilement Mobitec n'est produisible par aucun outil vendeur sur notre panneau — impossible de sniffer ce qu'on ne peut pas provoquer. Alors la caméra devient l'oracle.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 émet une trame candidate → l'œil photographie le panneau → l'IA juge la photo (statique ? défilant ?) → l'essai suivant est choisi. 5 registres × 256 valeurs = 1 280 expériences, une nuit d'établi.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Discipliné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variable change par essai ; reprise sur coupure de courant ; émission désarmée par défaut ; câblage vérifié avant toute trame.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BILLETTIQUE EMBARQUÉE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chaque boîtier du bus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girouettes ne sont qu'une branche du système embarqué — la même discipline s'étend à la chaîne billettique entière.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86400" cy="4343400"/>
          </a:xfrm>
          <a:prstGeom prst="roundRect">
            <a:avLst>
              <a:gd name="adj" fmla="val 189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0312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95805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SEMI-AUTOMATISÉE DES UC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4983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 USB virtuel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ESP32-S3 présente les mises à jour à l'UC comme une clé USB en lecture seule — bascule OFF / M0 / M1 par série, bouton ou HTTP, état persistant.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UC en parallèle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ESP32-P4 isole le réseau de son UC : les trois gardent la même IP par défaut, et l'opérateur les pilote ensemble.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navigateur — </a:t>
            </a:r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terminal xterm.js par UC, commande diffusée à tous (« Send All »), reconnaissance des écrans de menu pour un passage étape par étape.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504688" cy="2377440"/>
          </a:xfrm>
          <a:prstGeom prst="roundRect">
            <a:avLst>
              <a:gd name="adj" fmla="val 3462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1031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95805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UC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seule, par playbook — </a:t>
            </a:r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l'UC d'établi en SSH sans en modifier un octet ; autotests et états de flotte (En ligne / Hors ligne / Dégradé) déjà observés — la base d'un futur outillage de diagnostic SVT.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4434840"/>
            <a:ext cx="5504688" cy="1783080"/>
          </a:xfrm>
          <a:prstGeom prst="roundRect">
            <a:avLst>
              <a:gd name="adj" fmla="val 461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645152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4637837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EN CONSTRUCTION · FPGA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512064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Kria KV260 — </a:t>
            </a:r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vidéo caméra → Sobel dans la logique programmable → HDMI ; le modèle de référence exige une correspondance pixel à pixel — la falsification est non négociable.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LES OUTILS DE SOUTIEN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petites briques qui font tenir le reste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friction du quotidien a reçu son outil — petit, documenté, en service.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86400" cy="1810512"/>
          </a:xfrm>
          <a:prstGeom prst="roundRect">
            <a:avLst>
              <a:gd name="adj" fmla="val 454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67128"/>
            <a:ext cx="146304" cy="146304"/>
          </a:xfrm>
          <a:prstGeom prst="ellipse">
            <a:avLst/>
          </a:prstGeom>
          <a:solidFill>
            <a:srgbClr val="4CC3FF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2066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ILLUSTRÉ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029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références SVT jointes aux références RS Components, 111 photos produits hébergées en URLs stables (GitHub Pages) — les formules IMAGE() de Google Sheets ne cassent plus jamais.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0488" y="1920240"/>
            <a:ext cx="5486400" cy="1810512"/>
          </a:xfrm>
          <a:prstGeom prst="roundRect">
            <a:avLst>
              <a:gd name="adj" fmla="val 454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167128"/>
            <a:ext cx="146304" cy="146304"/>
          </a:xfrm>
          <a:prstGeom prst="ellipse">
            <a:avLst/>
          </a:prstGeom>
          <a:solidFill>
            <a:srgbClr val="3FCF6E"/>
          </a:solidFill>
          <a:ln/>
        </p:spPr>
      </p:sp>
      <p:sp>
        <p:nvSpPr>
          <p:cNvPr id="13" name="Text 11"/>
          <p:cNvSpPr/>
          <p:nvPr/>
        </p:nvSpPr>
        <p:spPr>
          <a:xfrm>
            <a:off x="6665976" y="2066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PROGRESSION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19088" y="2468880"/>
            <a:ext cx="5029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feuilles de temps Eurecia générées depuis les preuves de travail réelles : 113 éléments de preuve → 19 lignes proposées, chacune avec citations, score de confiance et commentaire Problème → Action → Apprentissage.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486400" cy="1810512"/>
          </a:xfrm>
          <a:prstGeom prst="roundRect">
            <a:avLst>
              <a:gd name="adj" fmla="val 454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178808"/>
            <a:ext cx="146304" cy="146304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" y="40782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PASSERELLE UNIQUE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5029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Caddyfile de 43 lignes remplace un proxy maison : 8 chemins publics → 5 services locaux, un seul tunnel ngrok pour démontrer tout le parc d'outils.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3931920"/>
            <a:ext cx="5486400" cy="1810512"/>
          </a:xfrm>
          <a:prstGeom prst="roundRect">
            <a:avLst>
              <a:gd name="adj" fmla="val 454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4178808"/>
            <a:ext cx="146304" cy="146304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21" name="Text 19"/>
          <p:cNvSpPr/>
          <p:nvPr/>
        </p:nvSpPr>
        <p:spPr>
          <a:xfrm>
            <a:off x="6665976" y="40782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GLASS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19088" y="4480560"/>
            <a:ext cx="5029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design system commun — fond nuit de dépôt, panneaux givrés, un accent cyan, et la palette d'états du stock partagée par tous les outils. Un seul fichier CSS à copier.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LA MÉTHODE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signature d'ingénierie, la même partout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relie un scanner de codes-barres, un protocole RS485 et un pipeline de rapports.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86400" cy="1810512"/>
          </a:xfrm>
          <a:prstGeom prst="roundRect">
            <a:avLst>
              <a:gd name="adj" fmla="val 454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67128"/>
            <a:ext cx="146304" cy="14630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2066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AVANT LA CONFIANCE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029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référence pixel à pixel sur FPGA ; trame au checksum volontairement faux pour vérifier que le panneau refuse ; caméra comme oracle quand le protocole ne peut pas être sniffé ; 14 + 17 + 43 tests automatisés sur les outils de terrain.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0488" y="1920240"/>
            <a:ext cx="5486400" cy="1810512"/>
          </a:xfrm>
          <a:prstGeom prst="roundRect">
            <a:avLst>
              <a:gd name="adj" fmla="val 454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9088" y="2167128"/>
            <a:ext cx="146304" cy="146304"/>
          </a:xfrm>
          <a:prstGeom prst="ellipse">
            <a:avLst/>
          </a:prstGeom>
          <a:solidFill>
            <a:srgbClr val="3FCF6E"/>
          </a:solidFill>
          <a:ln/>
        </p:spPr>
      </p:sp>
      <p:sp>
        <p:nvSpPr>
          <p:cNvPr id="13" name="Text 11"/>
          <p:cNvSpPr/>
          <p:nvPr/>
        </p:nvSpPr>
        <p:spPr>
          <a:xfrm>
            <a:off x="6665976" y="20665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PAR DÉFAUT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088" y="2468880"/>
            <a:ext cx="5029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émissions RS485 et SMS en simulation tant qu'on n'arme pas explicitement ; listes blanches ; secrets expurgés des journaux ; et la règle zéro — les systèmes de production (Synchroteam) restent en lecture seule.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5486400" cy="1810512"/>
          </a:xfrm>
          <a:prstGeom prst="roundRect">
            <a:avLst>
              <a:gd name="adj" fmla="val 454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178808"/>
            <a:ext cx="146304" cy="146304"/>
          </a:xfrm>
          <a:prstGeom prst="ellipse">
            <a:avLst/>
          </a:prstGeom>
          <a:solidFill>
            <a:srgbClr val="4CC3FF"/>
          </a:solidFill>
          <a:ln/>
        </p:spPr>
      </p:sp>
      <p:sp>
        <p:nvSpPr>
          <p:cNvPr id="17" name="Text 15"/>
          <p:cNvSpPr/>
          <p:nvPr/>
        </p:nvSpPr>
        <p:spPr>
          <a:xfrm>
            <a:off x="978408" y="40782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PLAYBOOKS, PAS DES EXPLOITS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5029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 girouettes, reconnaissance UC, mise en service Stock UC : chaque méthode est écrite pour être répétée par un autre dev SVT. Le savoir est un actif de l'entreprise, pas d'une personne.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3931920"/>
            <a:ext cx="5486400" cy="1810512"/>
          </a:xfrm>
          <a:prstGeom prst="roundRect">
            <a:avLst>
              <a:gd name="adj" fmla="val 454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4178808"/>
            <a:ext cx="146304" cy="146304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6665976" y="407822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COMME LEVIER, L'INGÉNIEUR RESPONSABLE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19088" y="4480560"/>
            <a:ext cx="50292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et les agents accélèrent chaque brique — mais chaque valeur générée est traçable, chaque sortie relue, chaque accès en lecture seule. L'outillage IA est un multiplicateur, pas un substitut.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CE QUE ÇA APPORTE À SVT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chiffres honnêtes, déjà mesurables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73968" cy="1737360"/>
          </a:xfrm>
          <a:prstGeom prst="roundRect">
            <a:avLst>
              <a:gd name="adj" fmla="val 473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459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de code livrés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l'écosystème SVT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37560" y="17830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95 000+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2459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 sur la chaîne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(web, Python, C/C++)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17830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2459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d'édition vendeurs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un seul flux SVT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32520" y="17830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732520" y="2459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suivis en direct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première réception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30752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 voit le stock, les sites et les blocages en direct — sans dépendre d'un tableur tenu à la main.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débit d'études monte sans embauche : la rédaction devient une relecture guidée, les erreurs sont attrapées à la porte.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de SVT à servir ses contrats ne dépend plus du bon vouloir logiciel de trois vendeurs de girouettes.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520440"/>
            <a:ext cx="5504688" cy="2651760"/>
          </a:xfrm>
          <a:prstGeom prst="roundRect">
            <a:avLst>
              <a:gd name="adj" fmla="val 3103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730752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d'installateur à intégrateur-constructeur : l'entreprise qui comprend le véhicule plus profondément que les revendeurs.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Transmissible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écrits, design system commun, contrats d'API versionnés — un nouveau dev SVT est productif vite.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affirmation embarque sa métrique : lots pilotes, chronométrages avant/après, statistiques de porte.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LA PROPOSITION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: un stage d'ingénieur systèmes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précède a été construit en marge du poste actuel. Un cadre de stage transforme cet élan en résultats planifiés, mesurés et transmis.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65960"/>
            <a:ext cx="6949440" cy="4206240"/>
          </a:xfrm>
          <a:prstGeom prst="roundRect">
            <a:avLst>
              <a:gd name="adj" fmla="val 195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MISSIONS CONCRÈTES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542032"/>
            <a:ext cx="310896" cy="3108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496312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 v2</a:t>
            </a:r>
            <a:endParaRPr lang="en-US" sz="1250" dirty="0"/>
          </a:p>
          <a:p>
            <a:pPr indent="0" marL="0">
              <a:buNone/>
            </a:pPr>
            <a:r>
              <a:rPr lang="en-US" sz="108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des listes attendues (CSV) pour pointer les manquants par chantier ; historique par équipement ; bilan chiffré après 3 réceptions.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438144"/>
            <a:ext cx="310896" cy="310896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92424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Girouettes : le pilote de référence</a:t>
            </a:r>
            <a:endParaRPr lang="en-US" sz="1250" dirty="0"/>
          </a:p>
          <a:p>
            <a:pPr indent="0" marL="0">
              <a:buNone/>
            </a:pPr>
            <a:r>
              <a:rPr lang="en-US" sz="108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notre table Hanover avec Hanover_Diag, sortir Mobitec du mode gabarit — premier pilote du contrôleur sur site réel.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334256"/>
            <a:ext cx="310896" cy="310896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25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288536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L'usine à rapports en production</a:t>
            </a:r>
            <a:endParaRPr lang="en-US" sz="1250" dirty="0"/>
          </a:p>
          <a:p>
            <a:pPr indent="0" marL="0">
              <a:buNone/>
            </a:pPr>
            <a:r>
              <a:rPr lang="en-US" sz="108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/rapport sur les contrats d'études en cours et mesurer les heures-par-étude, avant / après, sur un lot pilote.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230368"/>
            <a:ext cx="310896" cy="310896"/>
          </a:xfrm>
          <a:prstGeom prst="ellipse">
            <a:avLst/>
          </a:prstGeom>
          <a:solidFill>
            <a:srgbClr val="4CC3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21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518464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&amp; santé rapport au COPIL</a:t>
            </a:r>
            <a:endParaRPr lang="en-US" sz="1250" dirty="0"/>
          </a:p>
          <a:p>
            <a:pPr indent="0" marL="0">
              <a:buNone/>
            </a:pPr>
            <a:r>
              <a:rPr lang="en-US" sz="108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brancher la vue cycle-de-vie et la santé des rapports dans la routine COPIL — les deux questions que le comité pose vraiment.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35240" y="1965960"/>
            <a:ext cx="4041648" cy="4206240"/>
          </a:xfrm>
          <a:prstGeom prst="roundRect">
            <a:avLst>
              <a:gd name="adj" fmla="val 2036"/>
            </a:avLst>
          </a:prstGeom>
          <a:solidFill>
            <a:srgbClr val="1A3350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UNE BONNE AFFAIRE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09560" y="2560320"/>
            <a:ext cx="3520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Continuité — 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tournent déjà — le stage capitalise, il ne repart pas de zéro.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— 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écrits, points d'étape réguliers, livrables mesurés (le suivi de progression existe déjà, preuves à l'appui).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— 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mission se conclut par un playbook ou une formation courte à l'équipe — le savoir reste chez SVT.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nul — </a:t>
            </a:r>
            <a:pPr indent="0" marL="0">
              <a:spcAft>
                <a:spcPts val="10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disciplines déjà démontrées : lecture seule sur la production, simulation par défaut, tests verts.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STOCK UC &amp; LES SYSTEMES SVT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TOURNENT DÉJÀ.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cadre officiel les fait passer à l'échelle — au-delà d'une seule personne.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9776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place aux questions et à la démonstration en direct.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Abdou Gonzales  ·  julienabdougonzales@gmail.com  ·  abysse8.github.io  ·  github.com/abysse8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 : svt-communication.vercel.app — scannez, la vue COPIL suit.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2026-08-06T16:55:12Z</dcterms:created>
  <dcterms:modified xsi:type="dcterms:W3CDTF">2026-08-06T16:55:12Z</dcterms:modified>
</cp:coreProperties>
</file>