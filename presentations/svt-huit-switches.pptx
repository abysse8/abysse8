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commence par une histoire que tout le monde ici connaît. En fin de chantier, huit switches manquaient. Cinq cents euros pièce. Et la vraie question, personne ne pouvait y répondre : est-ce qu'ils ont été reçus ? posés quelque part ? perdus ? Il n'y avait aucune trace. [Pause. Laisser le silence travailler.]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 fois cinq cents : quatre mille euros. Mais le vrai coût n'est pas là. Le vrai coût, c'est qu'on est contractuellement responsables de ce matériel, et qu'on ne pouvait pas prouver son parcours. Les heures à fouiller les cartons, le doute au COPIL, la confiance du client. Alors je me suis posé une autre question. Pas « qui a perdu les switches » — ça, ça ne répare rien. Mais : pourquoi notre système permet-il d'en perdre huit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là, je veux être honnête : la meilleure idée n'était pas la mienne. Elle était à Josué. Scanner tout ce qui entre et tout ce qui sort, pour qu'un manque se voie avant la fin du chantier, pas après. Moi, ce que j'avais, c'était une promesse — celle de ma lettre de motivation : du changement réel en deux semaines. L'idée de Josué m'a donné l'occasion de la 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semaines plus tard, l'app était en production. Pas un prototype : en production, sur les téléphones de toute l'équipe, par simple lien. Voilà ce que ça donne sur le terrain — c'est une capture réelle du 6 août : cent quarante-neuf équipements suivis en temps réel, cent trente et un déjà passés en « Programmé » pour le COPIL, et zéro scan perdu, même sans réseau. Chaque équipement est daté et journalisé à chaque étape. Un switch ne peut plus disparaître sans histoire. [Si possible : sortir le téléphone et scanner un code en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Stock UC n'est pas un coup de chance — c'est une méthode. La même depuis trois mois, partout. Les rapports d'études se génèrent depuis les preuves terrain, relus par un humain. L'exploitation : soixante-sept mille interventions cherchables, plus besoin de mémoriser un seul CO. Les girouettes : la Hanover de l'atelier obéit à notre propre boîtier, sans logiciel vendeur. Le terrain : un agent qu'on pilote par SMS, et une caméra qui juge mille deux cent quatre-vingts essais pendant qu'on dort. La billettique : trois UC mises à jour d'un seul geste. Un slide chacun mériterait une heure — je détaille ce que vous voulez 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histoire pour vous montrer jusqu'où va la méthode. Les girouettes : aucune documentation, des trames illisibles à quatre mille huit cents bauds, un checksum inconnu. [Si on me demande comment : on avait le contrôleur sous la main pour écouter le bus — mais personne pour nous expliquer les trames. Tout le décodage, c'est nous.] Et puis un soir, un glyphe qu'on avait deviné s'affiche sur le panneau. À partir de là, tout devient possible : aujourd'hui la Hanover affiche ce qu'on veut, sans aucun logiciel vendeur. Et un collègue est arrivé aux mêmes conclusions de son côté — deux bancs indépendants, un même protocole. C'est la meilleure preuve qui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il y a un autre écran que je veux faire obéir : le pupitre du conducteur. Dans chaque bus, la centrale du SAE — un Ucineo UC66 ou UC67 — pilote la console du conducteur en lui envoyant son écran. Mon pari : cet échange, c'est des composants, des cartes qui s'échangent sur la ligne — donc c'est décodable, exactement comme la girouette. [Soyons honnêtes : on n'a pas encore capturé ce protocole. Ce que j'affirme, c'est la méthode, pas un résultat déjà acquis.] Si on le décode, l'ESP32 se branche sur la ligne et devient l'interface visuelle : un afficheur, un écran de diagnostic embarqué, à nous, sans attendre un vendeur. Et comme toujours : lecture seule d'abord — on écoute avant d'écrire un seul octet.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voilà où je veux aller ensuite. Aujourd'hui, une étude de site vit une seule fois : ce qui n'a pas été mesuré ce jour-là est perdu, et chaque cote oubliée coûte un aller-retour. Avec un drone et la photogrammétrie, on reconstruit le site en trois dimensions : on mesure à volonté, on rejoue la visite quand on veut, on simule l'implantation avant de percer. C'est exactement le principe de Stock UC : capturer une fois, correctement, et ne plus jamais perdre l'information. Et on ne part pas de zéro : notre moteur de rapports rend déjà des bus entiers en 3D, et j'ai déjà construit un contrôleur de vol.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Alors voilà ma demande : une alternance d'ingénieur systèmes de trois ans, avec le CESI. Pourquoi une alternance ? Parce que ce rythme-là — un changement mesurable toutes les deux semaines — je viens de vous montrer que je le tiens, et l'alternance le rend durable. Voilà les trois premiers mois, semaine par semaine : Stock UC version deux avec les listes attendues — plus jamais huit switches. Le pilote girouettes de référence, avec le collègue. Les rapports en production, avec une vraie mesure d'heures gagnées. Mobitec en natif. Le flux COPIL. Et le transfert à l'équipe. Sur trois ans, on parle d'autre chose : le contrôleur industrialisé, l'usine à rapports en standard sur tous les contrats — et un ingénieur formé chez SVT, qui connaît chaque boîtier de chaque bus. Le CESI encadre, SVT capitalise.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 switches perdus ont lancé tout ça. Deux semaines ont suffi pour le premier changement ; trois mois ont construit une chaîne d'outils. Voyons ce qu'on construit en trois ans. Merci — et si vous voulez, on fait la démonstration maintenant : sortez un téléphone, scannez un code, et regardez la vue COPIL se mettre à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6"/>
        </a:solidFill>
      </p:bgPr>
    </p:bg>
    <p:spTree>
      <p:nvGrpSpPr>
        <p:cNvPr id="1" name=""/>
        <p:cNvGrpSpPr/>
        <p:nvPr/>
      </p:nvGrpSpPr>
      <p:grpSpPr>
        <a:xfrm>
          <a:off x="0" y="0"/>
          <a:ext cx="0" cy="0"/>
          <a:chOff x="0" y="0"/>
          <a:chExt cx="0" cy="0"/>
        </a:xfrm>
      </p:grpSpPr>
      <p:sp>
        <p:nvSpPr>
          <p:cNvPr id="2" name="Text 0"/>
          <p:cNvSpPr/>
          <p:nvPr/>
        </p:nvSpPr>
        <p:spPr>
          <a:xfrm>
            <a:off x="822960" y="731520"/>
            <a:ext cx="10515600" cy="320040"/>
          </a:xfrm>
          <a:prstGeom prst="rect">
            <a:avLst/>
          </a:prstGeom>
          <a:noFill/>
          <a:ln/>
        </p:spPr>
        <p:txBody>
          <a:bodyPr wrap="square" lIns="0" tIns="0" rIns="0" bIns="0" rtlCol="0" anchor="ctr"/>
          <a:lstStyle/>
          <a:p>
            <a:pPr indent="0" marL="0">
              <a:buNone/>
            </a:pPr>
            <a:r>
              <a:rPr lang="en-US" sz="1200" b="1" spc="300" kern="0" dirty="0">
                <a:solidFill>
                  <a:srgbClr val="4CC3FF"/>
                </a:solidFill>
                <a:latin typeface="Calibri" pitchFamily="34" charset="0"/>
                <a:ea typeface="Calibri" pitchFamily="34" charset="-122"/>
                <a:cs typeface="Calibri" pitchFamily="34" charset="-120"/>
              </a:rPr>
              <a:t>SVT COMMUNICATION  ·  AOÛT 2026  ·  JULIEN ABDOU GONZALES</a:t>
            </a:r>
            <a:endParaRPr lang="en-US" sz="1200" dirty="0"/>
          </a:p>
        </p:txBody>
      </p:sp>
      <p:sp>
        <p:nvSpPr>
          <p:cNvPr id="3" name="Text 1"/>
          <p:cNvSpPr/>
          <p:nvPr/>
        </p:nvSpPr>
        <p:spPr>
          <a:xfrm>
            <a:off x="777240" y="1828800"/>
            <a:ext cx="10607040" cy="2377440"/>
          </a:xfrm>
          <a:prstGeom prst="rect">
            <a:avLst/>
          </a:prstGeom>
          <a:noFill/>
          <a:ln/>
        </p:spPr>
        <p:txBody>
          <a:bodyPr wrap="square" lIns="0" tIns="0" rIns="0" bIns="0" rtlCol="0" anchor="ctr"/>
          <a:lstStyle/>
          <a:p>
            <a:pPr indent="0" marL="0">
              <a:lnSpc>
                <a:spcPts val="7400"/>
              </a:lnSpc>
              <a:buNone/>
            </a:pPr>
            <a:r>
              <a:rPr lang="en-US" sz="6600" b="1" dirty="0">
                <a:solidFill>
                  <a:srgbClr val="EAF2FB"/>
                </a:solidFill>
                <a:latin typeface="Calibri" pitchFamily="34" charset="0"/>
                <a:ea typeface="Calibri" pitchFamily="34" charset="-122"/>
                <a:cs typeface="Calibri" pitchFamily="34" charset="-120"/>
              </a:rPr>
              <a:t>On a perdu</a:t>
            </a:r>
            <a:endParaRPr lang="en-US" sz="6600" dirty="0"/>
          </a:p>
          <a:p>
            <a:pPr indent="0" marL="0">
              <a:lnSpc>
                <a:spcPts val="7400"/>
              </a:lnSpc>
              <a:buNone/>
            </a:pPr>
            <a:r>
              <a:rPr lang="en-US" sz="6600" b="1" dirty="0">
                <a:solidFill>
                  <a:srgbClr val="EAF2FB"/>
                </a:solidFill>
                <a:latin typeface="Calibri" pitchFamily="34" charset="0"/>
                <a:ea typeface="Calibri" pitchFamily="34" charset="-122"/>
                <a:cs typeface="Calibri" pitchFamily="34" charset="-120"/>
              </a:rPr>
              <a:t>huit switches.</a:t>
            </a:r>
            <a:endParaRPr lang="en-US" sz="6600" dirty="0"/>
          </a:p>
        </p:txBody>
      </p:sp>
      <p:sp>
        <p:nvSpPr>
          <p:cNvPr id="4" name="Text 2"/>
          <p:cNvSpPr/>
          <p:nvPr/>
        </p:nvSpPr>
        <p:spPr>
          <a:xfrm>
            <a:off x="822960" y="4572000"/>
            <a:ext cx="9601200" cy="548640"/>
          </a:xfrm>
          <a:prstGeom prst="rect">
            <a:avLst/>
          </a:prstGeom>
          <a:noFill/>
          <a:ln/>
        </p:spPr>
        <p:txBody>
          <a:bodyPr wrap="square" lIns="0" tIns="0" rIns="0" bIns="0" rtlCol="0" anchor="ctr"/>
          <a:lstStyle/>
          <a:p>
            <a:pPr indent="0" marL="0">
              <a:buNone/>
            </a:pPr>
            <a:r>
              <a:rPr lang="en-US" sz="1800" dirty="0">
                <a:solidFill>
                  <a:srgbClr val="9DB2C7"/>
                </a:solidFill>
                <a:latin typeface="Calibri" pitchFamily="34" charset="0"/>
                <a:ea typeface="Calibri" pitchFamily="34" charset="-122"/>
                <a:cs typeface="Calibri" pitchFamily="34" charset="-120"/>
              </a:rPr>
              <a:t>À 500 € pièce. Personne ne pouvait dire s'ils avaient été reçus, posés, ou perdus.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626"/>
        </a:solidFill>
      </p:bgPr>
    </p:bg>
    <p:spTree>
      <p:nvGrpSpPr>
        <p:cNvPr id="1" name=""/>
        <p:cNvGrpSpPr/>
        <p:nvPr/>
      </p:nvGrpSpPr>
      <p:grpSpPr>
        <a:xfrm>
          <a:off x="0" y="0"/>
          <a:ext cx="0" cy="0"/>
          <a:chOff x="0" y="0"/>
          <a:chExt cx="0" cy="0"/>
        </a:xfrm>
      </p:grpSpPr>
      <p:sp>
        <p:nvSpPr>
          <p:cNvPr id="2" name="Text 0"/>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900" dirty="0">
                <a:solidFill>
                  <a:srgbClr val="9DB2C7"/>
                </a:solidFill>
                <a:latin typeface="Calibri" pitchFamily="34" charset="0"/>
                <a:ea typeface="Calibri" pitchFamily="34" charset="-122"/>
                <a:cs typeface="Calibri" pitchFamily="34" charset="-120"/>
              </a:rPr>
              <a:t>2</a:t>
            </a:r>
            <a:endParaRPr lang="en-US" sz="900" dirty="0"/>
          </a:p>
        </p:txBody>
      </p:sp>
      <p:sp>
        <p:nvSpPr>
          <p:cNvPr id="3" name="Text 1"/>
          <p:cNvSpPr/>
          <p:nvPr/>
        </p:nvSpPr>
        <p:spPr>
          <a:xfrm>
            <a:off x="777240" y="1188720"/>
            <a:ext cx="10607040" cy="1554480"/>
          </a:xfrm>
          <a:prstGeom prst="rect">
            <a:avLst/>
          </a:prstGeom>
          <a:noFill/>
          <a:ln/>
        </p:spPr>
        <p:txBody>
          <a:bodyPr wrap="square" lIns="0" tIns="0" rIns="0" bIns="0" rtlCol="0" anchor="ctr"/>
          <a:lstStyle/>
          <a:p>
            <a:pPr indent="0" marL="0">
              <a:buNone/>
            </a:pPr>
            <a:r>
              <a:rPr lang="en-US" sz="9600" b="1" dirty="0">
                <a:solidFill>
                  <a:srgbClr val="F85149"/>
                </a:solidFill>
                <a:latin typeface="Calibri" pitchFamily="34" charset="0"/>
                <a:ea typeface="Calibri" pitchFamily="34" charset="-122"/>
                <a:cs typeface="Calibri" pitchFamily="34" charset="-120"/>
              </a:rPr>
              <a:t>4 000 €</a:t>
            </a:r>
            <a:endParaRPr lang="en-US" sz="9600" dirty="0"/>
          </a:p>
        </p:txBody>
      </p:sp>
      <p:sp>
        <p:nvSpPr>
          <p:cNvPr id="4" name="Text 2"/>
          <p:cNvSpPr/>
          <p:nvPr/>
        </p:nvSpPr>
        <p:spPr>
          <a:xfrm>
            <a:off x="822960" y="3017520"/>
            <a:ext cx="10332720" cy="914400"/>
          </a:xfrm>
          <a:prstGeom prst="rect">
            <a:avLst/>
          </a:prstGeom>
          <a:noFill/>
          <a:ln/>
        </p:spPr>
        <p:txBody>
          <a:bodyPr wrap="square" lIns="0" tIns="0" rIns="0" bIns="0" rtlCol="0" anchor="ctr"/>
          <a:lstStyle/>
          <a:p>
            <a:pPr indent="0" marL="0">
              <a:buNone/>
            </a:pPr>
            <a:r>
              <a:rPr lang="en-US" sz="1800" dirty="0">
                <a:solidFill>
                  <a:srgbClr val="EAF2FB"/>
                </a:solidFill>
                <a:latin typeface="Calibri" pitchFamily="34" charset="0"/>
                <a:ea typeface="Calibri" pitchFamily="34" charset="-122"/>
                <a:cs typeface="Calibri" pitchFamily="34" charset="-120"/>
              </a:rPr>
              <a:t>Et ce n'était pas le pire. SVT est contractuellement responsable de ce matériel —</a:t>
            </a:r>
            <a:endParaRPr lang="en-US" sz="1800" dirty="0"/>
          </a:p>
          <a:p>
            <a:pPr indent="0" marL="0">
              <a:buNone/>
            </a:pPr>
            <a:r>
              <a:rPr lang="en-US" sz="1800" dirty="0">
                <a:solidFill>
                  <a:srgbClr val="EAF2FB"/>
                </a:solidFill>
                <a:latin typeface="Calibri" pitchFamily="34" charset="0"/>
                <a:ea typeface="Calibri" pitchFamily="34" charset="-122"/>
                <a:cs typeface="Calibri" pitchFamily="34" charset="-120"/>
              </a:rPr>
              <a:t>et nous ne pouvions même pas prouver son parcours.</a:t>
            </a:r>
            <a:endParaRPr lang="en-US" sz="1800" dirty="0"/>
          </a:p>
        </p:txBody>
      </p:sp>
      <p:sp>
        <p:nvSpPr>
          <p:cNvPr id="5" name="Text 3"/>
          <p:cNvSpPr/>
          <p:nvPr/>
        </p:nvSpPr>
        <p:spPr>
          <a:xfrm>
            <a:off x="822960" y="4572000"/>
            <a:ext cx="10424160" cy="1280160"/>
          </a:xfrm>
          <a:prstGeom prst="rect">
            <a:avLst/>
          </a:prstGeom>
          <a:noFill/>
          <a:ln/>
        </p:spPr>
        <p:txBody>
          <a:bodyPr wrap="square" lIns="0" tIns="0" rIns="0" bIns="0" rtlCol="0" anchor="ctr"/>
          <a:lstStyle/>
          <a:p>
            <a:pPr indent="0" marL="0">
              <a:buNone/>
            </a:pPr>
            <a:r>
              <a:rPr lang="en-US" sz="2000" i="1" dirty="0">
                <a:solidFill>
                  <a:srgbClr val="9DB2C7"/>
                </a:solidFill>
                <a:latin typeface="Calibri" pitchFamily="34" charset="0"/>
                <a:ea typeface="Calibri" pitchFamily="34" charset="-122"/>
                <a:cs typeface="Calibri" pitchFamily="34" charset="-120"/>
              </a:rPr>
              <a:t>La bonne question n'était pas « qui a perdu les switches ? »
</a:t>
            </a:r>
            <a:pPr indent="0" marL="0">
              <a:buNone/>
            </a:pPr>
            <a:r>
              <a:rPr lang="en-US" sz="2200" b="1" dirty="0">
                <a:solidFill>
                  <a:srgbClr val="4CC3FF"/>
                </a:solidFill>
                <a:latin typeface="Calibri" pitchFamily="34" charset="0"/>
                <a:ea typeface="Calibri" pitchFamily="34" charset="-122"/>
                <a:cs typeface="Calibri" pitchFamily="34" charset="-120"/>
              </a:rPr>
              <a:t>C'était : « pourquoi notre système permet-il d'en perdre huit ? »</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626"/>
        </a:solidFill>
      </p:bgPr>
    </p:bg>
    <p:spTree>
      <p:nvGrpSpPr>
        <p:cNvPr id="1" name=""/>
        <p:cNvGrpSpPr/>
        <p:nvPr/>
      </p:nvGrpSpPr>
      <p:grpSpPr>
        <a:xfrm>
          <a:off x="0" y="0"/>
          <a:ext cx="0" cy="0"/>
          <a:chOff x="0" y="0"/>
          <a:chExt cx="0" cy="0"/>
        </a:xfrm>
      </p:grpSpPr>
      <p:sp>
        <p:nvSpPr>
          <p:cNvPr id="2" name="Text 0"/>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900" dirty="0">
                <a:solidFill>
                  <a:srgbClr val="9DB2C7"/>
                </a:solidFill>
                <a:latin typeface="Calibri" pitchFamily="34" charset="0"/>
                <a:ea typeface="Calibri" pitchFamily="34" charset="-122"/>
                <a:cs typeface="Calibri" pitchFamily="34" charset="-120"/>
              </a:rPr>
              <a:t>3</a:t>
            </a:r>
            <a:endParaRPr lang="en-US" sz="900" dirty="0"/>
          </a:p>
        </p:txBody>
      </p:sp>
      <p:sp>
        <p:nvSpPr>
          <p:cNvPr id="3" name="Text 1"/>
          <p:cNvSpPr/>
          <p:nvPr/>
        </p:nvSpPr>
        <p:spPr>
          <a:xfrm>
            <a:off x="777240" y="1280160"/>
            <a:ext cx="10607040" cy="1005840"/>
          </a:xfrm>
          <a:prstGeom prst="rect">
            <a:avLst/>
          </a:prstGeom>
          <a:noFill/>
          <a:ln/>
        </p:spPr>
        <p:txBody>
          <a:bodyPr wrap="square" lIns="0" tIns="0" rIns="0" bIns="0" rtlCol="0" anchor="ctr"/>
          <a:lstStyle/>
          <a:p>
            <a:pPr indent="0" marL="0">
              <a:buNone/>
            </a:pPr>
            <a:r>
              <a:rPr lang="en-US" sz="5400" b="1" dirty="0">
                <a:solidFill>
                  <a:srgbClr val="EAF2FB"/>
                </a:solidFill>
                <a:latin typeface="Calibri" pitchFamily="34" charset="0"/>
                <a:ea typeface="Calibri" pitchFamily="34" charset="-122"/>
                <a:cs typeface="Calibri" pitchFamily="34" charset="-120"/>
              </a:rPr>
              <a:t>L'idée était à Josué.</a:t>
            </a:r>
            <a:endParaRPr lang="en-US" sz="5400" dirty="0"/>
          </a:p>
        </p:txBody>
      </p:sp>
      <p:sp>
        <p:nvSpPr>
          <p:cNvPr id="4" name="Text 2"/>
          <p:cNvSpPr/>
          <p:nvPr/>
        </p:nvSpPr>
        <p:spPr>
          <a:xfrm>
            <a:off x="822960" y="2651760"/>
            <a:ext cx="10241280" cy="1005840"/>
          </a:xfrm>
          <a:prstGeom prst="rect">
            <a:avLst/>
          </a:prstGeom>
          <a:noFill/>
          <a:ln/>
        </p:spPr>
        <p:txBody>
          <a:bodyPr wrap="square" lIns="0" tIns="0" rIns="0" bIns="0" rtlCol="0" anchor="ctr"/>
          <a:lstStyle/>
          <a:p>
            <a:pPr indent="0" marL="0">
              <a:buNone/>
            </a:pPr>
            <a:r>
              <a:rPr lang="en-US" sz="2400" i="1" dirty="0">
                <a:solidFill>
                  <a:srgbClr val="4CC3FF"/>
                </a:solidFill>
                <a:latin typeface="Calibri" pitchFamily="34" charset="0"/>
                <a:ea typeface="Calibri" pitchFamily="34" charset="-122"/>
                <a:cs typeface="Calibri" pitchFamily="34" charset="-120"/>
              </a:rPr>
              <a:t>« Scanner les entrants et les sortants, pour prévenir les manques</a:t>
            </a:r>
            <a:endParaRPr lang="en-US" sz="2400" dirty="0"/>
          </a:p>
          <a:p>
            <a:pPr indent="0" marL="0">
              <a:buNone/>
            </a:pPr>
            <a:r>
              <a:rPr lang="en-US" sz="2400" i="1" dirty="0">
                <a:solidFill>
                  <a:srgbClr val="4CC3FF"/>
                </a:solidFill>
                <a:latin typeface="Calibri" pitchFamily="34" charset="0"/>
                <a:ea typeface="Calibri" pitchFamily="34" charset="-122"/>
                <a:cs typeface="Calibri" pitchFamily="34" charset="-120"/>
              </a:rPr>
              <a:t>en fin de chantier. »</a:t>
            </a:r>
            <a:endParaRPr lang="en-US" sz="2400" dirty="0"/>
          </a:p>
        </p:txBody>
      </p:sp>
      <p:sp>
        <p:nvSpPr>
          <p:cNvPr id="5" name="Text 3"/>
          <p:cNvSpPr/>
          <p:nvPr/>
        </p:nvSpPr>
        <p:spPr>
          <a:xfrm>
            <a:off x="822960" y="4206240"/>
            <a:ext cx="10241280" cy="914400"/>
          </a:xfrm>
          <a:prstGeom prst="rect">
            <a:avLst/>
          </a:prstGeom>
          <a:noFill/>
          <a:ln/>
        </p:spPr>
        <p:txBody>
          <a:bodyPr wrap="square" lIns="0" tIns="0" rIns="0" bIns="0" rtlCol="0" anchor="ctr"/>
          <a:lstStyle/>
          <a:p>
            <a:pPr indent="0" marL="0">
              <a:buNone/>
            </a:pPr>
            <a:r>
              <a:rPr lang="en-US" sz="1800" dirty="0">
                <a:solidFill>
                  <a:srgbClr val="9DB2C7"/>
                </a:solidFill>
                <a:latin typeface="Calibri" pitchFamily="34" charset="0"/>
                <a:ea typeface="Calibri" pitchFamily="34" charset="-122"/>
                <a:cs typeface="Calibri" pitchFamily="34" charset="-120"/>
              </a:rPr>
              <a:t>Moi, j'avais fait une promesse dans ma lettre de motivation :</a:t>
            </a:r>
            <a:endParaRPr lang="en-US" sz="1800" dirty="0"/>
          </a:p>
          <a:p>
            <a:pPr indent="0" marL="0">
              <a:buNone/>
            </a:pPr>
            <a:r>
              <a:rPr lang="en-US" sz="1800" dirty="0">
                <a:solidFill>
                  <a:srgbClr val="9DB2C7"/>
                </a:solidFill>
                <a:latin typeface="Calibri" pitchFamily="34" charset="0"/>
                <a:ea typeface="Calibri" pitchFamily="34" charset="-122"/>
                <a:cs typeface="Calibri" pitchFamily="34" charset="-120"/>
              </a:rPr>
              <a:t>du changement réel en deux semaines.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626"/>
        </a:solidFill>
      </p:bgPr>
    </p:bg>
    <p:spTree>
      <p:nvGrpSpPr>
        <p:cNvPr id="1" name=""/>
        <p:cNvGrpSpPr/>
        <p:nvPr/>
      </p:nvGrpSpPr>
      <p:grpSpPr>
        <a:xfrm>
          <a:off x="0" y="0"/>
          <a:ext cx="0" cy="0"/>
          <a:chOff x="0" y="0"/>
          <a:chExt cx="0" cy="0"/>
        </a:xfrm>
      </p:grpSpPr>
      <p:sp>
        <p:nvSpPr>
          <p:cNvPr id="2" name="Text 0"/>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900" dirty="0">
                <a:solidFill>
                  <a:srgbClr val="9DB2C7"/>
                </a:solidFill>
                <a:latin typeface="Calibri" pitchFamily="34" charset="0"/>
                <a:ea typeface="Calibri" pitchFamily="34" charset="-122"/>
                <a:cs typeface="Calibri" pitchFamily="34" charset="-120"/>
              </a:rPr>
              <a:t>4</a:t>
            </a:r>
            <a:endParaRPr lang="en-US" sz="900" dirty="0"/>
          </a:p>
        </p:txBody>
      </p:sp>
      <p:sp>
        <p:nvSpPr>
          <p:cNvPr id="3" name="Text 1"/>
          <p:cNvSpPr/>
          <p:nvPr/>
        </p:nvSpPr>
        <p:spPr>
          <a:xfrm>
            <a:off x="777240" y="685800"/>
            <a:ext cx="10607040" cy="914400"/>
          </a:xfrm>
          <a:prstGeom prst="rect">
            <a:avLst/>
          </a:prstGeom>
          <a:noFill/>
          <a:ln/>
        </p:spPr>
        <p:txBody>
          <a:bodyPr wrap="square" lIns="0" tIns="0" rIns="0" bIns="0" rtlCol="0" anchor="ctr"/>
          <a:lstStyle/>
          <a:p>
            <a:pPr indent="0" marL="0">
              <a:buNone/>
            </a:pPr>
            <a:r>
              <a:rPr lang="en-US" sz="4400" b="1" dirty="0">
                <a:solidFill>
                  <a:srgbClr val="EAF2FB"/>
                </a:solidFill>
                <a:latin typeface="Calibri" pitchFamily="34" charset="0"/>
                <a:ea typeface="Calibri" pitchFamily="34" charset="-122"/>
                <a:cs typeface="Calibri" pitchFamily="34" charset="-120"/>
              </a:rPr>
              <a:t>Deux semaines plus tard.</a:t>
            </a:r>
            <a:endParaRPr lang="en-US" sz="4400" dirty="0"/>
          </a:p>
        </p:txBody>
      </p:sp>
      <p:sp>
        <p:nvSpPr>
          <p:cNvPr id="4" name="Text 2"/>
          <p:cNvSpPr/>
          <p:nvPr/>
        </p:nvSpPr>
        <p:spPr>
          <a:xfrm>
            <a:off x="822960" y="1554480"/>
            <a:ext cx="10241280" cy="457200"/>
          </a:xfrm>
          <a:prstGeom prst="rect">
            <a:avLst/>
          </a:prstGeom>
          <a:noFill/>
          <a:ln/>
        </p:spPr>
        <p:txBody>
          <a:bodyPr wrap="square" lIns="0" tIns="0" rIns="0" bIns="0" rtlCol="0" anchor="ctr"/>
          <a:lstStyle/>
          <a:p>
            <a:pPr indent="0" marL="0">
              <a:buNone/>
            </a:pPr>
            <a:r>
              <a:rPr lang="en-US" sz="1600" dirty="0">
                <a:solidFill>
                  <a:srgbClr val="9DB2C7"/>
                </a:solidFill>
                <a:latin typeface="Calibri" pitchFamily="34" charset="0"/>
                <a:ea typeface="Calibri" pitchFamily="34" charset="-122"/>
                <a:cs typeface="Calibri" pitchFamily="34" charset="-120"/>
              </a:rPr>
              <a:t>Stock UC, en production. Sur les téléphones de toute l'équipe, par simple lien.</a:t>
            </a:r>
            <a:endParaRPr lang="en-US" sz="1600" dirty="0"/>
          </a:p>
        </p:txBody>
      </p:sp>
      <p:pic>
        <p:nvPicPr>
          <p:cNvPr id="5" name="Image 0" descr="/tmp/claude-0/-home-user-abysse8/ac194e7e-6269-5e67-b723-29d3d107b6da/scratchpad/stockuc-scan.png">    </p:cNvPr>
          <p:cNvPicPr>
            <a:picLocks noChangeAspect="1"/>
          </p:cNvPicPr>
          <p:nvPr/>
        </p:nvPicPr>
        <p:blipFill>
          <a:blip r:embed="rId1"/>
          <a:stretch>
            <a:fillRect/>
          </a:stretch>
        </p:blipFill>
        <p:spPr>
          <a:xfrm>
            <a:off x="1188720" y="2286000"/>
            <a:ext cx="1517904" cy="3813048"/>
          </a:xfrm>
          <a:prstGeom prst="rect">
            <a:avLst/>
          </a:prstGeom>
        </p:spPr>
      </p:pic>
      <p:pic>
        <p:nvPicPr>
          <p:cNvPr id="6" name="Image 1" descr="/tmp/claude-0/-home-user-abysse8/ac194e7e-6269-5e67-b723-29d3d107b6da/scratchpad/stockuc-copil.png">    </p:cNvPr>
          <p:cNvPicPr>
            <a:picLocks noChangeAspect="1"/>
          </p:cNvPicPr>
          <p:nvPr/>
        </p:nvPicPr>
        <p:blipFill>
          <a:blip r:embed="rId2"/>
          <a:stretch>
            <a:fillRect/>
          </a:stretch>
        </p:blipFill>
        <p:spPr>
          <a:xfrm>
            <a:off x="2971800" y="2286000"/>
            <a:ext cx="1682496" cy="3813048"/>
          </a:xfrm>
          <a:prstGeom prst="rect">
            <a:avLst/>
          </a:prstGeom>
        </p:spPr>
      </p:pic>
      <p:sp>
        <p:nvSpPr>
          <p:cNvPr id="7" name="Text 3"/>
          <p:cNvSpPr/>
          <p:nvPr/>
        </p:nvSpPr>
        <p:spPr>
          <a:xfrm>
            <a:off x="5394960" y="2377440"/>
            <a:ext cx="2103120" cy="868680"/>
          </a:xfrm>
          <a:prstGeom prst="rect">
            <a:avLst/>
          </a:prstGeom>
          <a:noFill/>
          <a:ln/>
        </p:spPr>
        <p:txBody>
          <a:bodyPr wrap="square" lIns="0" tIns="0" rIns="0" bIns="0" rtlCol="0" anchor="ctr"/>
          <a:lstStyle/>
          <a:p>
            <a:pPr algn="r" indent="0" marL="0">
              <a:buNone/>
            </a:pPr>
            <a:r>
              <a:rPr lang="en-US" sz="5400" b="1" dirty="0">
                <a:solidFill>
                  <a:srgbClr val="4CC3FF"/>
                </a:solidFill>
                <a:latin typeface="Calibri" pitchFamily="34" charset="0"/>
                <a:ea typeface="Calibri" pitchFamily="34" charset="-122"/>
                <a:cs typeface="Calibri" pitchFamily="34" charset="-120"/>
              </a:rPr>
              <a:t>149</a:t>
            </a:r>
            <a:endParaRPr lang="en-US" sz="5400" dirty="0"/>
          </a:p>
        </p:txBody>
      </p:sp>
      <p:sp>
        <p:nvSpPr>
          <p:cNvPr id="8" name="Text 4"/>
          <p:cNvSpPr/>
          <p:nvPr/>
        </p:nvSpPr>
        <p:spPr>
          <a:xfrm>
            <a:off x="7680960" y="2633472"/>
            <a:ext cx="3931920" cy="548640"/>
          </a:xfrm>
          <a:prstGeom prst="rect">
            <a:avLst/>
          </a:prstGeom>
          <a:noFill/>
          <a:ln/>
        </p:spPr>
        <p:txBody>
          <a:bodyPr wrap="square" lIns="0" tIns="0" rIns="0" bIns="0" rtlCol="0" anchor="ctr"/>
          <a:lstStyle/>
          <a:p>
            <a:pPr indent="0" marL="0">
              <a:buNone/>
            </a:pPr>
            <a:r>
              <a:rPr lang="en-US" sz="1600" dirty="0">
                <a:solidFill>
                  <a:srgbClr val="EAF2FB"/>
                </a:solidFill>
                <a:latin typeface="Calibri" pitchFamily="34" charset="0"/>
                <a:ea typeface="Calibri" pitchFamily="34" charset="-122"/>
                <a:cs typeface="Calibri" pitchFamily="34" charset="-120"/>
              </a:rPr>
              <a:t>équipements suivis en temps réel</a:t>
            </a:r>
            <a:endParaRPr lang="en-US" sz="1600" dirty="0"/>
          </a:p>
        </p:txBody>
      </p:sp>
      <p:sp>
        <p:nvSpPr>
          <p:cNvPr id="9" name="Text 5"/>
          <p:cNvSpPr/>
          <p:nvPr/>
        </p:nvSpPr>
        <p:spPr>
          <a:xfrm>
            <a:off x="5394960" y="3675888"/>
            <a:ext cx="2103120" cy="868680"/>
          </a:xfrm>
          <a:prstGeom prst="rect">
            <a:avLst/>
          </a:prstGeom>
          <a:noFill/>
          <a:ln/>
        </p:spPr>
        <p:txBody>
          <a:bodyPr wrap="square" lIns="0" tIns="0" rIns="0" bIns="0" rtlCol="0" anchor="ctr"/>
          <a:lstStyle/>
          <a:p>
            <a:pPr algn="r" indent="0" marL="0">
              <a:buNone/>
            </a:pPr>
            <a:r>
              <a:rPr lang="en-US" sz="5400" b="1" dirty="0">
                <a:solidFill>
                  <a:srgbClr val="BC8CFF"/>
                </a:solidFill>
                <a:latin typeface="Calibri" pitchFamily="34" charset="0"/>
                <a:ea typeface="Calibri" pitchFamily="34" charset="-122"/>
                <a:cs typeface="Calibri" pitchFamily="34" charset="-120"/>
              </a:rPr>
              <a:t>131</a:t>
            </a:r>
            <a:endParaRPr lang="en-US" sz="5400" dirty="0"/>
          </a:p>
        </p:txBody>
      </p:sp>
      <p:sp>
        <p:nvSpPr>
          <p:cNvPr id="10" name="Text 6"/>
          <p:cNvSpPr/>
          <p:nvPr/>
        </p:nvSpPr>
        <p:spPr>
          <a:xfrm>
            <a:off x="7680960" y="3931920"/>
            <a:ext cx="3931920" cy="548640"/>
          </a:xfrm>
          <a:prstGeom prst="rect">
            <a:avLst/>
          </a:prstGeom>
          <a:noFill/>
          <a:ln/>
        </p:spPr>
        <p:txBody>
          <a:bodyPr wrap="square" lIns="0" tIns="0" rIns="0" bIns="0" rtlCol="0" anchor="ctr"/>
          <a:lstStyle/>
          <a:p>
            <a:pPr indent="0" marL="0">
              <a:buNone/>
            </a:pPr>
            <a:r>
              <a:rPr lang="en-US" sz="1600" dirty="0">
                <a:solidFill>
                  <a:srgbClr val="EAF2FB"/>
                </a:solidFill>
                <a:latin typeface="Calibri" pitchFamily="34" charset="0"/>
                <a:ea typeface="Calibri" pitchFamily="34" charset="-122"/>
                <a:cs typeface="Calibri" pitchFamily="34" charset="-120"/>
              </a:rPr>
              <a:t>déjà passés en « Programmé »</a:t>
            </a:r>
            <a:endParaRPr lang="en-US" sz="1600" dirty="0"/>
          </a:p>
        </p:txBody>
      </p:sp>
      <p:sp>
        <p:nvSpPr>
          <p:cNvPr id="11" name="Text 7"/>
          <p:cNvSpPr/>
          <p:nvPr/>
        </p:nvSpPr>
        <p:spPr>
          <a:xfrm>
            <a:off x="5394960" y="4974336"/>
            <a:ext cx="2103120" cy="868680"/>
          </a:xfrm>
          <a:prstGeom prst="rect">
            <a:avLst/>
          </a:prstGeom>
          <a:noFill/>
          <a:ln/>
        </p:spPr>
        <p:txBody>
          <a:bodyPr wrap="square" lIns="0" tIns="0" rIns="0" bIns="0" rtlCol="0" anchor="ctr"/>
          <a:lstStyle/>
          <a:p>
            <a:pPr algn="r" indent="0" marL="0">
              <a:buNone/>
            </a:pPr>
            <a:r>
              <a:rPr lang="en-US" sz="5400" b="1" dirty="0">
                <a:solidFill>
                  <a:srgbClr val="3FCF6E"/>
                </a:solidFill>
                <a:latin typeface="Calibri" pitchFamily="34" charset="0"/>
                <a:ea typeface="Calibri" pitchFamily="34" charset="-122"/>
                <a:cs typeface="Calibri" pitchFamily="34" charset="-120"/>
              </a:rPr>
              <a:t>0</a:t>
            </a:r>
            <a:endParaRPr lang="en-US" sz="5400" dirty="0"/>
          </a:p>
        </p:txBody>
      </p:sp>
      <p:sp>
        <p:nvSpPr>
          <p:cNvPr id="12" name="Text 8"/>
          <p:cNvSpPr/>
          <p:nvPr/>
        </p:nvSpPr>
        <p:spPr>
          <a:xfrm>
            <a:off x="7680960" y="5230368"/>
            <a:ext cx="3931920" cy="548640"/>
          </a:xfrm>
          <a:prstGeom prst="rect">
            <a:avLst/>
          </a:prstGeom>
          <a:noFill/>
          <a:ln/>
        </p:spPr>
        <p:txBody>
          <a:bodyPr wrap="square" lIns="0" tIns="0" rIns="0" bIns="0" rtlCol="0" anchor="ctr"/>
          <a:lstStyle/>
          <a:p>
            <a:pPr indent="0" marL="0">
              <a:buNone/>
            </a:pPr>
            <a:r>
              <a:rPr lang="en-US" sz="1600" dirty="0">
                <a:solidFill>
                  <a:srgbClr val="EAF2FB"/>
                </a:solidFill>
                <a:latin typeface="Calibri" pitchFamily="34" charset="0"/>
                <a:ea typeface="Calibri" pitchFamily="34" charset="-122"/>
                <a:cs typeface="Calibri" pitchFamily="34" charset="-120"/>
              </a:rPr>
              <a:t>scan perdu — même sans réseau</a:t>
            </a:r>
            <a:endParaRPr lang="en-US" sz="1600" dirty="0"/>
          </a:p>
        </p:txBody>
      </p:sp>
      <p:sp>
        <p:nvSpPr>
          <p:cNvPr id="13" name="Text 9"/>
          <p:cNvSpPr/>
          <p:nvPr/>
        </p:nvSpPr>
        <p:spPr>
          <a:xfrm>
            <a:off x="5440680" y="5806440"/>
            <a:ext cx="6217920" cy="548640"/>
          </a:xfrm>
          <a:prstGeom prst="rect">
            <a:avLst/>
          </a:prstGeom>
          <a:noFill/>
          <a:ln/>
        </p:spPr>
        <p:txBody>
          <a:bodyPr wrap="square" lIns="0" tIns="0" rIns="0" bIns="0" rtlCol="0" anchor="ctr"/>
          <a:lstStyle/>
          <a:p>
            <a:pPr indent="0" marL="0">
              <a:buNone/>
            </a:pPr>
            <a:r>
              <a:rPr lang="en-US" sz="1300" i="1" dirty="0">
                <a:solidFill>
                  <a:srgbClr val="9DB2C7"/>
                </a:solidFill>
                <a:latin typeface="Calibri" pitchFamily="34" charset="0"/>
                <a:ea typeface="Calibri" pitchFamily="34" charset="-122"/>
                <a:cs typeface="Calibri" pitchFamily="34" charset="-120"/>
              </a:rPr>
              <a:t>Chaque équipement scanné à chaque étape : Reçu → Programmé → Planifié → Sorti. Daté, journalisé, partagé.</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626"/>
        </a:solidFill>
      </p:bgPr>
    </p:bg>
    <p:spTree>
      <p:nvGrpSpPr>
        <p:cNvPr id="1" name=""/>
        <p:cNvGrpSpPr/>
        <p:nvPr/>
      </p:nvGrpSpPr>
      <p:grpSpPr>
        <a:xfrm>
          <a:off x="0" y="0"/>
          <a:ext cx="0" cy="0"/>
          <a:chOff x="0" y="0"/>
          <a:chExt cx="0" cy="0"/>
        </a:xfrm>
      </p:grpSpPr>
      <p:sp>
        <p:nvSpPr>
          <p:cNvPr id="2" name="Text 0"/>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900" dirty="0">
                <a:solidFill>
                  <a:srgbClr val="9DB2C7"/>
                </a:solidFill>
                <a:latin typeface="Calibri" pitchFamily="34" charset="0"/>
                <a:ea typeface="Calibri" pitchFamily="34" charset="-122"/>
                <a:cs typeface="Calibri" pitchFamily="34" charset="-120"/>
              </a:rPr>
              <a:t>5</a:t>
            </a:r>
            <a:endParaRPr lang="en-US" sz="900" dirty="0"/>
          </a:p>
        </p:txBody>
      </p:sp>
      <p:sp>
        <p:nvSpPr>
          <p:cNvPr id="3" name="Text 1"/>
          <p:cNvSpPr/>
          <p:nvPr/>
        </p:nvSpPr>
        <p:spPr>
          <a:xfrm>
            <a:off x="777240" y="685800"/>
            <a:ext cx="10607040" cy="914400"/>
          </a:xfrm>
          <a:prstGeom prst="rect">
            <a:avLst/>
          </a:prstGeom>
          <a:noFill/>
          <a:ln/>
        </p:spPr>
        <p:txBody>
          <a:bodyPr wrap="square" lIns="0" tIns="0" rIns="0" bIns="0" rtlCol="0" anchor="ctr"/>
          <a:lstStyle/>
          <a:p>
            <a:pPr indent="0" marL="0">
              <a:buNone/>
            </a:pPr>
            <a:r>
              <a:rPr lang="en-US" sz="4000" b="1" dirty="0">
                <a:solidFill>
                  <a:srgbClr val="EAF2FB"/>
                </a:solidFill>
                <a:latin typeface="Calibri" pitchFamily="34" charset="0"/>
                <a:ea typeface="Calibri" pitchFamily="34" charset="-122"/>
                <a:cs typeface="Calibri" pitchFamily="34" charset="-120"/>
              </a:rPr>
              <a:t>Ce n'était pas un coup de chance.</a:t>
            </a:r>
            <a:endParaRPr lang="en-US" sz="4000" dirty="0"/>
          </a:p>
        </p:txBody>
      </p:sp>
      <p:sp>
        <p:nvSpPr>
          <p:cNvPr id="4" name="Text 2"/>
          <p:cNvSpPr/>
          <p:nvPr/>
        </p:nvSpPr>
        <p:spPr>
          <a:xfrm>
            <a:off x="822960" y="1554480"/>
            <a:ext cx="10241280" cy="457200"/>
          </a:xfrm>
          <a:prstGeom prst="rect">
            <a:avLst/>
          </a:prstGeom>
          <a:noFill/>
          <a:ln/>
        </p:spPr>
        <p:txBody>
          <a:bodyPr wrap="square" lIns="0" tIns="0" rIns="0" bIns="0" rtlCol="0" anchor="ctr"/>
          <a:lstStyle/>
          <a:p>
            <a:pPr indent="0" marL="0">
              <a:buNone/>
            </a:pPr>
            <a:r>
              <a:rPr lang="en-US" sz="1600" dirty="0">
                <a:solidFill>
                  <a:srgbClr val="9DB2C7"/>
                </a:solidFill>
                <a:latin typeface="Calibri" pitchFamily="34" charset="0"/>
                <a:ea typeface="Calibri" pitchFamily="34" charset="-122"/>
                <a:cs typeface="Calibri" pitchFamily="34" charset="-120"/>
              </a:rPr>
              <a:t>Trois mois, la même méthode, partout :</a:t>
            </a:r>
            <a:endParaRPr lang="en-US" sz="1600" dirty="0"/>
          </a:p>
        </p:txBody>
      </p:sp>
      <p:sp>
        <p:nvSpPr>
          <p:cNvPr id="5" name="Text 3"/>
          <p:cNvSpPr/>
          <p:nvPr/>
        </p:nvSpPr>
        <p:spPr>
          <a:xfrm>
            <a:off x="822960" y="2240280"/>
            <a:ext cx="10607040" cy="685800"/>
          </a:xfrm>
          <a:prstGeom prst="rect">
            <a:avLst/>
          </a:prstGeom>
          <a:noFill/>
          <a:ln/>
        </p:spPr>
        <p:txBody>
          <a:bodyPr wrap="square" lIns="0" tIns="0" rIns="0" bIns="0" rtlCol="0" anchor="ctr"/>
          <a:lstStyle/>
          <a:p>
            <a:pPr indent="0" marL="0">
              <a:buNone/>
            </a:pPr>
            <a:r>
              <a:rPr lang="en-US" sz="1700" b="1" dirty="0">
                <a:solidFill>
                  <a:srgbClr val="BC8CFF"/>
                </a:solidFill>
                <a:latin typeface="Calibri" pitchFamily="34" charset="0"/>
                <a:ea typeface="Calibri" pitchFamily="34" charset="-122"/>
                <a:cs typeface="Calibri" pitchFamily="34" charset="-120"/>
              </a:rPr>
              <a:t>Les rapports  —  </a:t>
            </a:r>
            <a:pPr indent="0" marL="0">
              <a:buNone/>
            </a:pPr>
            <a:r>
              <a:rPr lang="en-US" sz="1500" dirty="0">
                <a:solidFill>
                  <a:srgbClr val="EAF2FB"/>
                </a:solidFill>
                <a:latin typeface="Calibri" pitchFamily="34" charset="0"/>
                <a:ea typeface="Calibri" pitchFamily="34" charset="-122"/>
                <a:cs typeface="Calibri" pitchFamily="34" charset="-120"/>
              </a:rPr>
              <a:t>les études clients se génèrent depuis les preuves terrain — relues par un humain, chaque valeur traçable.</a:t>
            </a:r>
            <a:endParaRPr lang="en-US" sz="1700" dirty="0"/>
          </a:p>
        </p:txBody>
      </p:sp>
      <p:sp>
        <p:nvSpPr>
          <p:cNvPr id="6" name="Text 4"/>
          <p:cNvSpPr/>
          <p:nvPr/>
        </p:nvSpPr>
        <p:spPr>
          <a:xfrm>
            <a:off x="822960" y="3035808"/>
            <a:ext cx="10607040" cy="685800"/>
          </a:xfrm>
          <a:prstGeom prst="rect">
            <a:avLst/>
          </a:prstGeom>
          <a:noFill/>
          <a:ln/>
        </p:spPr>
        <p:txBody>
          <a:bodyPr wrap="square" lIns="0" tIns="0" rIns="0" bIns="0" rtlCol="0" anchor="ctr"/>
          <a:lstStyle/>
          <a:p>
            <a:pPr indent="0" marL="0">
              <a:buNone/>
            </a:pPr>
            <a:r>
              <a:rPr lang="en-US" sz="1700" b="1" dirty="0">
                <a:solidFill>
                  <a:srgbClr val="4CC3FF"/>
                </a:solidFill>
                <a:latin typeface="Calibri" pitchFamily="34" charset="0"/>
                <a:ea typeface="Calibri" pitchFamily="34" charset="-122"/>
                <a:cs typeface="Calibri" pitchFamily="34" charset="-120"/>
              </a:rPr>
              <a:t>L'exploitation  —  </a:t>
            </a:r>
            <a:pPr indent="0" marL="0">
              <a:buNone/>
            </a:pPr>
            <a:r>
              <a:rPr lang="en-US" sz="1500" dirty="0">
                <a:solidFill>
                  <a:srgbClr val="EAF2FB"/>
                </a:solidFill>
                <a:latin typeface="Calibri" pitchFamily="34" charset="0"/>
                <a:ea typeface="Calibri" pitchFamily="34" charset="-122"/>
                <a:cs typeface="Calibri" pitchFamily="34" charset="-120"/>
              </a:rPr>
              <a:t>67 932 interventions cherchables par site, client ou véhicule — plus aucun identifiant à mémoriser.</a:t>
            </a:r>
            <a:endParaRPr lang="en-US" sz="1700" dirty="0"/>
          </a:p>
        </p:txBody>
      </p:sp>
      <p:sp>
        <p:nvSpPr>
          <p:cNvPr id="7" name="Text 5"/>
          <p:cNvSpPr/>
          <p:nvPr/>
        </p:nvSpPr>
        <p:spPr>
          <a:xfrm>
            <a:off x="822960" y="3831336"/>
            <a:ext cx="10607040" cy="685800"/>
          </a:xfrm>
          <a:prstGeom prst="rect">
            <a:avLst/>
          </a:prstGeom>
          <a:noFill/>
          <a:ln/>
        </p:spPr>
        <p:txBody>
          <a:bodyPr wrap="square" lIns="0" tIns="0" rIns="0" bIns="0" rtlCol="0" anchor="ctr"/>
          <a:lstStyle/>
          <a:p>
            <a:pPr indent="0" marL="0">
              <a:buNone/>
            </a:pPr>
            <a:r>
              <a:rPr lang="en-US" sz="1700" b="1" dirty="0">
                <a:solidFill>
                  <a:srgbClr val="3FCF6E"/>
                </a:solidFill>
                <a:latin typeface="Calibri" pitchFamily="34" charset="0"/>
                <a:ea typeface="Calibri" pitchFamily="34" charset="-122"/>
                <a:cs typeface="Calibri" pitchFamily="34" charset="-120"/>
              </a:rPr>
              <a:t>Les girouettes  —  </a:t>
            </a:r>
            <a:pPr indent="0" marL="0">
              <a:buNone/>
            </a:pPr>
            <a:r>
              <a:rPr lang="en-US" sz="1500" dirty="0">
                <a:solidFill>
                  <a:srgbClr val="EAF2FB"/>
                </a:solidFill>
                <a:latin typeface="Calibri" pitchFamily="34" charset="0"/>
                <a:ea typeface="Calibri" pitchFamily="34" charset="-122"/>
                <a:cs typeface="Calibri" pitchFamily="34" charset="-120"/>
              </a:rPr>
              <a:t>la Hanover obéit à notre boîtier, sans logiciel vendeur — protocole décodé sur l'établi.</a:t>
            </a:r>
            <a:endParaRPr lang="en-US" sz="1700" dirty="0"/>
          </a:p>
        </p:txBody>
      </p:sp>
      <p:sp>
        <p:nvSpPr>
          <p:cNvPr id="8" name="Text 6"/>
          <p:cNvSpPr/>
          <p:nvPr/>
        </p:nvSpPr>
        <p:spPr>
          <a:xfrm>
            <a:off x="822960" y="4626864"/>
            <a:ext cx="10607040" cy="685800"/>
          </a:xfrm>
          <a:prstGeom prst="rect">
            <a:avLst/>
          </a:prstGeom>
          <a:noFill/>
          <a:ln/>
        </p:spPr>
        <p:txBody>
          <a:bodyPr wrap="square" lIns="0" tIns="0" rIns="0" bIns="0" rtlCol="0" anchor="ctr"/>
          <a:lstStyle/>
          <a:p>
            <a:pPr indent="0" marL="0">
              <a:buNone/>
            </a:pPr>
            <a:r>
              <a:rPr lang="en-US" sz="1700" b="1" dirty="0">
                <a:solidFill>
                  <a:srgbClr val="F0B429"/>
                </a:solidFill>
                <a:latin typeface="Calibri" pitchFamily="34" charset="0"/>
                <a:ea typeface="Calibri" pitchFamily="34" charset="-122"/>
                <a:cs typeface="Calibri" pitchFamily="34" charset="-120"/>
              </a:rPr>
              <a:t>Le terrain  —  </a:t>
            </a:r>
            <a:pPr indent="0" marL="0">
              <a:buNone/>
            </a:pPr>
            <a:r>
              <a:rPr lang="en-US" sz="1500" dirty="0">
                <a:solidFill>
                  <a:srgbClr val="EAF2FB"/>
                </a:solidFill>
                <a:latin typeface="Calibri" pitchFamily="34" charset="0"/>
                <a:ea typeface="Calibri" pitchFamily="34" charset="-122"/>
                <a:cs typeface="Calibri" pitchFamily="34" charset="-120"/>
              </a:rPr>
              <a:t>un agent piloté par SMS là où le Wi-Fi n'existe pas ; une caméra qui juge 1 280 essais pendant qu'on dort.</a:t>
            </a:r>
            <a:endParaRPr lang="en-US" sz="1700" dirty="0"/>
          </a:p>
        </p:txBody>
      </p:sp>
      <p:sp>
        <p:nvSpPr>
          <p:cNvPr id="9" name="Text 7"/>
          <p:cNvSpPr/>
          <p:nvPr/>
        </p:nvSpPr>
        <p:spPr>
          <a:xfrm>
            <a:off x="822960" y="5422392"/>
            <a:ext cx="10607040" cy="685800"/>
          </a:xfrm>
          <a:prstGeom prst="rect">
            <a:avLst/>
          </a:prstGeom>
          <a:noFill/>
          <a:ln/>
        </p:spPr>
        <p:txBody>
          <a:bodyPr wrap="square" lIns="0" tIns="0" rIns="0" bIns="0" rtlCol="0" anchor="ctr"/>
          <a:lstStyle/>
          <a:p>
            <a:pPr indent="0" marL="0">
              <a:buNone/>
            </a:pPr>
            <a:r>
              <a:rPr lang="en-US" sz="1700" b="1" dirty="0">
                <a:solidFill>
                  <a:srgbClr val="F85149"/>
                </a:solidFill>
                <a:latin typeface="Calibri" pitchFamily="34" charset="0"/>
                <a:ea typeface="Calibri" pitchFamily="34" charset="-122"/>
                <a:cs typeface="Calibri" pitchFamily="34" charset="-120"/>
              </a:rPr>
              <a:t>La billettique  —  </a:t>
            </a:r>
            <a:pPr indent="0" marL="0">
              <a:buNone/>
            </a:pPr>
            <a:r>
              <a:rPr lang="en-US" sz="1500" dirty="0">
                <a:solidFill>
                  <a:srgbClr val="EAF2FB"/>
                </a:solidFill>
                <a:latin typeface="Calibri" pitchFamily="34" charset="0"/>
                <a:ea typeface="Calibri" pitchFamily="34" charset="-122"/>
                <a:cs typeface="Calibri" pitchFamily="34" charset="-120"/>
              </a:rPr>
              <a:t>trois UC mises à jour en parallèle, d'un seul geste, depuis un navigateur.</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626"/>
        </a:solidFill>
      </p:bgPr>
    </p:bg>
    <p:spTree>
      <p:nvGrpSpPr>
        <p:cNvPr id="1" name=""/>
        <p:cNvGrpSpPr/>
        <p:nvPr/>
      </p:nvGrpSpPr>
      <p:grpSpPr>
        <a:xfrm>
          <a:off x="0" y="0"/>
          <a:ext cx="0" cy="0"/>
          <a:chOff x="0" y="0"/>
          <a:chExt cx="0" cy="0"/>
        </a:xfrm>
      </p:grpSpPr>
      <p:sp>
        <p:nvSpPr>
          <p:cNvPr id="2" name="Text 0"/>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900" dirty="0">
                <a:solidFill>
                  <a:srgbClr val="9DB2C7"/>
                </a:solidFill>
                <a:latin typeface="Calibri" pitchFamily="34" charset="0"/>
                <a:ea typeface="Calibri" pitchFamily="34" charset="-122"/>
                <a:cs typeface="Calibri" pitchFamily="34" charset="-120"/>
              </a:rPr>
              <a:t>6</a:t>
            </a:r>
            <a:endParaRPr lang="en-US" sz="900" dirty="0"/>
          </a:p>
        </p:txBody>
      </p:sp>
      <p:pic>
        <p:nvPicPr>
          <p:cNvPr id="3" name="Image 0" descr="/tmp/claude-0/-home-user-abysse8/ac194e7e-6269-5e67-b723-29d3d107b6da/scratchpad/oldmedia/image-14-1.jpg">    </p:cNvPr>
          <p:cNvPicPr>
            <a:picLocks noChangeAspect="1"/>
          </p:cNvPicPr>
          <p:nvPr/>
        </p:nvPicPr>
        <p:blipFill>
          <a:blip r:embed="rId1"/>
          <a:stretch>
            <a:fillRect/>
          </a:stretch>
        </p:blipFill>
        <p:spPr>
          <a:xfrm>
            <a:off x="5971032" y="0"/>
            <a:ext cx="6217920" cy="3493008"/>
          </a:xfrm>
          <a:prstGeom prst="rect">
            <a:avLst/>
          </a:prstGeom>
        </p:spPr>
      </p:pic>
      <p:sp>
        <p:nvSpPr>
          <p:cNvPr id="4" name="Shape 1"/>
          <p:cNvSpPr/>
          <p:nvPr/>
        </p:nvSpPr>
        <p:spPr>
          <a:xfrm>
            <a:off x="5971032" y="3493008"/>
            <a:ext cx="6217920" cy="3364992"/>
          </a:xfrm>
          <a:prstGeom prst="rect">
            <a:avLst/>
          </a:prstGeom>
          <a:solidFill>
            <a:srgbClr val="13273D"/>
          </a:solidFill>
          <a:ln/>
        </p:spPr>
      </p:sp>
      <p:sp>
        <p:nvSpPr>
          <p:cNvPr id="5" name="Text 2"/>
          <p:cNvSpPr/>
          <p:nvPr/>
        </p:nvSpPr>
        <p:spPr>
          <a:xfrm>
            <a:off x="6309360" y="3749040"/>
            <a:ext cx="5577840" cy="731520"/>
          </a:xfrm>
          <a:prstGeom prst="rect">
            <a:avLst/>
          </a:prstGeom>
          <a:noFill/>
          <a:ln/>
        </p:spPr>
        <p:txBody>
          <a:bodyPr wrap="square" lIns="0" tIns="0" rIns="0" bIns="0" rtlCol="0" anchor="ctr"/>
          <a:lstStyle/>
          <a:p>
            <a:pPr indent="0" marL="0">
              <a:buNone/>
            </a:pPr>
            <a:r>
              <a:rPr lang="en-US" sz="1200" i="1" dirty="0">
                <a:solidFill>
                  <a:srgbClr val="9DB2C7"/>
                </a:solidFill>
                <a:latin typeface="Calibri" pitchFamily="34" charset="0"/>
                <a:ea typeface="Calibri" pitchFamily="34" charset="-122"/>
                <a:cs typeface="Calibri" pitchFamily="34" charset="-120"/>
              </a:rPr>
              <a:t>Girouette Hanover réelle, pilotée par notre ESP32.</a:t>
            </a:r>
            <a:endParaRPr lang="en-US" sz="1200" dirty="0"/>
          </a:p>
          <a:p>
            <a:pPr indent="0" marL="0">
              <a:buNone/>
            </a:pPr>
            <a:r>
              <a:rPr lang="en-US" sz="1200" i="1" dirty="0">
                <a:solidFill>
                  <a:srgbClr val="9DB2C7"/>
                </a:solidFill>
                <a:latin typeface="Calibri" pitchFamily="34" charset="0"/>
                <a:ea typeface="Calibri" pitchFamily="34" charset="-122"/>
                <a:cs typeface="Calibri" pitchFamily="34" charset="-120"/>
              </a:rPr>
              <a:t>Vidéo complète : abysse8.github.io</a:t>
            </a:r>
            <a:endParaRPr lang="en-US" sz="1200" dirty="0"/>
          </a:p>
        </p:txBody>
      </p:sp>
      <p:sp>
        <p:nvSpPr>
          <p:cNvPr id="6" name="Text 3"/>
          <p:cNvSpPr/>
          <p:nvPr/>
        </p:nvSpPr>
        <p:spPr>
          <a:xfrm>
            <a:off x="777240" y="1371600"/>
            <a:ext cx="5029200" cy="2377440"/>
          </a:xfrm>
          <a:prstGeom prst="rect">
            <a:avLst/>
          </a:prstGeom>
          <a:noFill/>
          <a:ln/>
        </p:spPr>
        <p:txBody>
          <a:bodyPr wrap="square" lIns="0" tIns="0" rIns="0" bIns="0" rtlCol="0" anchor="ctr"/>
          <a:lstStyle/>
          <a:p>
            <a:pPr indent="0" marL="0">
              <a:lnSpc>
                <a:spcPts val="5600"/>
              </a:lnSpc>
              <a:buNone/>
            </a:pPr>
            <a:r>
              <a:rPr lang="en-US" sz="4800" b="1" dirty="0">
                <a:solidFill>
                  <a:srgbClr val="EAF2FB"/>
                </a:solidFill>
                <a:latin typeface="Calibri" pitchFamily="34" charset="0"/>
                <a:ea typeface="Calibri" pitchFamily="34" charset="-122"/>
                <a:cs typeface="Calibri" pitchFamily="34" charset="-120"/>
              </a:rPr>
              <a:t>Le soir où</a:t>
            </a:r>
            <a:endParaRPr lang="en-US" sz="4800" dirty="0"/>
          </a:p>
          <a:p>
            <a:pPr indent="0" marL="0">
              <a:lnSpc>
                <a:spcPts val="5600"/>
              </a:lnSpc>
              <a:buNone/>
            </a:pPr>
            <a:r>
              <a:rPr lang="en-US" sz="4800" b="1" dirty="0">
                <a:solidFill>
                  <a:srgbClr val="EAF2FB"/>
                </a:solidFill>
                <a:latin typeface="Calibri" pitchFamily="34" charset="0"/>
                <a:ea typeface="Calibri" pitchFamily="34" charset="-122"/>
                <a:cs typeface="Calibri" pitchFamily="34" charset="-120"/>
              </a:rPr>
              <a:t>le panneau</a:t>
            </a:r>
            <a:endParaRPr lang="en-US" sz="4800" dirty="0"/>
          </a:p>
          <a:p>
            <a:pPr indent="0" marL="0">
              <a:lnSpc>
                <a:spcPts val="5600"/>
              </a:lnSpc>
              <a:buNone/>
            </a:pPr>
            <a:r>
              <a:rPr lang="en-US" sz="4800" b="1" dirty="0">
                <a:solidFill>
                  <a:srgbClr val="EAF2FB"/>
                </a:solidFill>
                <a:latin typeface="Calibri" pitchFamily="34" charset="0"/>
                <a:ea typeface="Calibri" pitchFamily="34" charset="-122"/>
                <a:cs typeface="Calibri" pitchFamily="34" charset="-120"/>
              </a:rPr>
              <a:t>a obéi.</a:t>
            </a:r>
            <a:endParaRPr lang="en-US" sz="4800" dirty="0"/>
          </a:p>
        </p:txBody>
      </p:sp>
      <p:sp>
        <p:nvSpPr>
          <p:cNvPr id="7" name="Text 4"/>
          <p:cNvSpPr/>
          <p:nvPr/>
        </p:nvSpPr>
        <p:spPr>
          <a:xfrm>
            <a:off x="822960" y="4114800"/>
            <a:ext cx="4846320" cy="1280160"/>
          </a:xfrm>
          <a:prstGeom prst="rect">
            <a:avLst/>
          </a:prstGeom>
          <a:noFill/>
          <a:ln/>
        </p:spPr>
        <p:txBody>
          <a:bodyPr wrap="square" lIns="0" tIns="0" rIns="0" bIns="0" rtlCol="0" anchor="ctr"/>
          <a:lstStyle/>
          <a:p>
            <a:pPr indent="0" marL="0">
              <a:buNone/>
            </a:pPr>
            <a:r>
              <a:rPr lang="en-US" sz="1600" dirty="0">
                <a:solidFill>
                  <a:srgbClr val="9DB2C7"/>
                </a:solidFill>
                <a:latin typeface="Calibri" pitchFamily="34" charset="0"/>
                <a:ea typeface="Calibri" pitchFamily="34" charset="-122"/>
                <a:cs typeface="Calibri" pitchFamily="34" charset="-120"/>
              </a:rPr>
              <a:t>Aucune documentation. Des trames illisibles. Puis un glyphe deviné s'affiche — et tout devient possible.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626"/>
        </a:solidFill>
      </p:bgPr>
    </p:bg>
    <p:spTree>
      <p:nvGrpSpPr>
        <p:cNvPr id="1" name=""/>
        <p:cNvGrpSpPr/>
        <p:nvPr/>
      </p:nvGrpSpPr>
      <p:grpSpPr>
        <a:xfrm>
          <a:off x="0" y="0"/>
          <a:ext cx="0" cy="0"/>
          <a:chOff x="0" y="0"/>
          <a:chExt cx="0" cy="0"/>
        </a:xfrm>
      </p:grpSpPr>
      <p:sp>
        <p:nvSpPr>
          <p:cNvPr id="2" name="Text 0"/>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900" dirty="0">
                <a:solidFill>
                  <a:srgbClr val="9DB2C7"/>
                </a:solidFill>
                <a:latin typeface="Calibri" pitchFamily="34" charset="0"/>
                <a:ea typeface="Calibri" pitchFamily="34" charset="-122"/>
                <a:cs typeface="Calibri" pitchFamily="34" charset="-120"/>
              </a:rPr>
              <a:t>7</a:t>
            </a:r>
            <a:endParaRPr lang="en-US" sz="900" dirty="0"/>
          </a:p>
        </p:txBody>
      </p:sp>
      <p:sp>
        <p:nvSpPr>
          <p:cNvPr id="3" name="Text 1"/>
          <p:cNvSpPr/>
          <p:nvPr/>
        </p:nvSpPr>
        <p:spPr>
          <a:xfrm>
            <a:off x="777240" y="685800"/>
            <a:ext cx="10607040" cy="914400"/>
          </a:xfrm>
          <a:prstGeom prst="rect">
            <a:avLst/>
          </a:prstGeom>
          <a:noFill/>
          <a:ln/>
        </p:spPr>
        <p:txBody>
          <a:bodyPr wrap="square" lIns="0" tIns="0" rIns="0" bIns="0" rtlCol="0" anchor="ctr"/>
          <a:lstStyle/>
          <a:p>
            <a:pPr indent="0" marL="0">
              <a:buNone/>
            </a:pPr>
            <a:r>
              <a:rPr lang="en-US" sz="4000" b="1" dirty="0">
                <a:solidFill>
                  <a:srgbClr val="EAF2FB"/>
                </a:solidFill>
                <a:latin typeface="Calibri" pitchFamily="34" charset="0"/>
                <a:ea typeface="Calibri" pitchFamily="34" charset="-122"/>
                <a:cs typeface="Calibri" pitchFamily="34" charset="-120"/>
              </a:rPr>
              <a:t>Le prochain écran à faire obéir.</a:t>
            </a:r>
            <a:endParaRPr lang="en-US" sz="4000" dirty="0"/>
          </a:p>
        </p:txBody>
      </p:sp>
      <p:sp>
        <p:nvSpPr>
          <p:cNvPr id="4" name="Text 2"/>
          <p:cNvSpPr/>
          <p:nvPr/>
        </p:nvSpPr>
        <p:spPr>
          <a:xfrm>
            <a:off x="822960" y="1508760"/>
            <a:ext cx="10424160" cy="457200"/>
          </a:xfrm>
          <a:prstGeom prst="rect">
            <a:avLst/>
          </a:prstGeom>
          <a:noFill/>
          <a:ln/>
        </p:spPr>
        <p:txBody>
          <a:bodyPr wrap="square" lIns="0" tIns="0" rIns="0" bIns="0" rtlCol="0" anchor="ctr"/>
          <a:lstStyle/>
          <a:p>
            <a:pPr indent="0" marL="0">
              <a:buNone/>
            </a:pPr>
            <a:r>
              <a:rPr lang="en-US" sz="1600" dirty="0">
                <a:solidFill>
                  <a:srgbClr val="9DB2C7"/>
                </a:solidFill>
                <a:latin typeface="Calibri" pitchFamily="34" charset="0"/>
                <a:ea typeface="Calibri" pitchFamily="34" charset="-122"/>
                <a:cs typeface="Calibri" pitchFamily="34" charset="-120"/>
              </a:rPr>
              <a:t>Le pupitre du conducteur — la console du SAE Ucineo, dans chaque bus.</a:t>
            </a:r>
            <a:endParaRPr lang="en-US" sz="1600" dirty="0"/>
          </a:p>
        </p:txBody>
      </p:sp>
      <p:sp>
        <p:nvSpPr>
          <p:cNvPr id="5" name="Shape 3"/>
          <p:cNvSpPr/>
          <p:nvPr/>
        </p:nvSpPr>
        <p:spPr>
          <a:xfrm>
            <a:off x="1051560" y="2514600"/>
            <a:ext cx="3200400" cy="1325880"/>
          </a:xfrm>
          <a:prstGeom prst="roundRect">
            <a:avLst>
              <a:gd name="adj" fmla="val 6207"/>
            </a:avLst>
          </a:prstGeom>
          <a:solidFill>
            <a:srgbClr val="13273D"/>
          </a:solidFill>
          <a:ln w="9525">
            <a:solidFill>
              <a:srgbClr val="2C4A6B"/>
            </a:solidFill>
            <a:prstDash val="solid"/>
          </a:ln>
        </p:spPr>
      </p:sp>
      <p:sp>
        <p:nvSpPr>
          <p:cNvPr id="6" name="Shape 4"/>
          <p:cNvSpPr/>
          <p:nvPr/>
        </p:nvSpPr>
        <p:spPr>
          <a:xfrm>
            <a:off x="7909560" y="2514600"/>
            <a:ext cx="3200400" cy="1325880"/>
          </a:xfrm>
          <a:prstGeom prst="roundRect">
            <a:avLst>
              <a:gd name="adj" fmla="val 6207"/>
            </a:avLst>
          </a:prstGeom>
          <a:solidFill>
            <a:srgbClr val="13273D"/>
          </a:solidFill>
          <a:ln w="9525">
            <a:solidFill>
              <a:srgbClr val="2C4A6B"/>
            </a:solidFill>
            <a:prstDash val="solid"/>
          </a:ln>
        </p:spPr>
      </p:sp>
      <p:sp>
        <p:nvSpPr>
          <p:cNvPr id="7" name="Text 5"/>
          <p:cNvSpPr/>
          <p:nvPr/>
        </p:nvSpPr>
        <p:spPr>
          <a:xfrm>
            <a:off x="1051560" y="2770632"/>
            <a:ext cx="3200400" cy="914400"/>
          </a:xfrm>
          <a:prstGeom prst="rect">
            <a:avLst/>
          </a:prstGeom>
          <a:noFill/>
          <a:ln/>
        </p:spPr>
        <p:txBody>
          <a:bodyPr wrap="square" lIns="0" tIns="0" rIns="0" bIns="0" rtlCol="0" anchor="ctr"/>
          <a:lstStyle/>
          <a:p>
            <a:pPr algn="ctr" indent="0" marL="0">
              <a:buNone/>
            </a:pPr>
            <a:r>
              <a:rPr lang="en-US" sz="2000" b="1" dirty="0">
                <a:solidFill>
                  <a:srgbClr val="4CC3FF"/>
                </a:solidFill>
                <a:latin typeface="Calibri" pitchFamily="34" charset="0"/>
                <a:ea typeface="Calibri" pitchFamily="34" charset="-122"/>
                <a:cs typeface="Calibri" pitchFamily="34" charset="-120"/>
              </a:rPr>
              <a:t>SAE UCINEO
</a:t>
            </a:r>
            <a:pPr algn="ctr" indent="0" marL="0">
              <a:buNone/>
            </a:pPr>
            <a:r>
              <a:rPr lang="en-US" sz="1300" dirty="0">
                <a:solidFill>
                  <a:srgbClr val="9DB2C7"/>
                </a:solidFill>
                <a:latin typeface="Calibri" pitchFamily="34" charset="0"/>
                <a:ea typeface="Calibri" pitchFamily="34" charset="-122"/>
                <a:cs typeface="Calibri" pitchFamily="34" charset="-120"/>
              </a:rPr>
              <a:t>UC66 / UC67 — la centrale</a:t>
            </a:r>
            <a:endParaRPr lang="en-US" sz="2000" dirty="0"/>
          </a:p>
        </p:txBody>
      </p:sp>
      <p:sp>
        <p:nvSpPr>
          <p:cNvPr id="8" name="Text 6"/>
          <p:cNvSpPr/>
          <p:nvPr/>
        </p:nvSpPr>
        <p:spPr>
          <a:xfrm>
            <a:off x="7909560" y="2770632"/>
            <a:ext cx="3200400" cy="914400"/>
          </a:xfrm>
          <a:prstGeom prst="rect">
            <a:avLst/>
          </a:prstGeom>
          <a:noFill/>
          <a:ln/>
        </p:spPr>
        <p:txBody>
          <a:bodyPr wrap="square" lIns="0" tIns="0" rIns="0" bIns="0" rtlCol="0" anchor="ctr"/>
          <a:lstStyle/>
          <a:p>
            <a:pPr algn="ctr" indent="0" marL="0">
              <a:buNone/>
            </a:pPr>
            <a:r>
              <a:rPr lang="en-US" sz="2000" b="1" dirty="0">
                <a:solidFill>
                  <a:srgbClr val="EAF2FB"/>
                </a:solidFill>
                <a:latin typeface="Calibri" pitchFamily="34" charset="0"/>
                <a:ea typeface="Calibri" pitchFamily="34" charset="-122"/>
                <a:cs typeface="Calibri" pitchFamily="34" charset="-120"/>
              </a:rPr>
              <a:t>PUPITRE
</a:t>
            </a:r>
            <a:pPr algn="ctr" indent="0" marL="0">
              <a:buNone/>
            </a:pPr>
            <a:r>
              <a:rPr lang="en-US" sz="1300" dirty="0">
                <a:solidFill>
                  <a:srgbClr val="9DB2C7"/>
                </a:solidFill>
                <a:latin typeface="Calibri" pitchFamily="34" charset="0"/>
                <a:ea typeface="Calibri" pitchFamily="34" charset="-122"/>
                <a:cs typeface="Calibri" pitchFamily="34" charset="-120"/>
              </a:rPr>
              <a:t>l'écran du conducteur</a:t>
            </a:r>
            <a:endParaRPr lang="en-US" sz="2000" dirty="0"/>
          </a:p>
        </p:txBody>
      </p:sp>
      <p:sp>
        <p:nvSpPr>
          <p:cNvPr id="9" name="Text 7"/>
          <p:cNvSpPr/>
          <p:nvPr/>
        </p:nvSpPr>
        <p:spPr>
          <a:xfrm>
            <a:off x="4251960" y="2450592"/>
            <a:ext cx="3657600" cy="320040"/>
          </a:xfrm>
          <a:prstGeom prst="rect">
            <a:avLst/>
          </a:prstGeom>
          <a:noFill/>
          <a:ln/>
        </p:spPr>
        <p:txBody>
          <a:bodyPr wrap="square" lIns="0" tIns="0" rIns="0" bIns="0" rtlCol="0" anchor="ctr"/>
          <a:lstStyle/>
          <a:p>
            <a:pPr algn="ctr" indent="0" marL="0">
              <a:buNone/>
            </a:pPr>
            <a:r>
              <a:rPr lang="en-US" sz="1250" i="1" dirty="0">
                <a:solidFill>
                  <a:srgbClr val="9DB2C7"/>
                </a:solidFill>
                <a:latin typeface="Calibri" pitchFamily="34" charset="0"/>
                <a:ea typeface="Calibri" pitchFamily="34" charset="-122"/>
                <a:cs typeface="Calibri" pitchFamily="34" charset="-120"/>
              </a:rPr>
              <a:t>l'écran = un échange de composants (des cartes)</a:t>
            </a:r>
            <a:endParaRPr lang="en-US" sz="1250" dirty="0"/>
          </a:p>
        </p:txBody>
      </p:sp>
      <p:sp>
        <p:nvSpPr>
          <p:cNvPr id="10" name="Text 8"/>
          <p:cNvSpPr/>
          <p:nvPr/>
        </p:nvSpPr>
        <p:spPr>
          <a:xfrm>
            <a:off x="4251960" y="2788920"/>
            <a:ext cx="3657600" cy="822960"/>
          </a:xfrm>
          <a:prstGeom prst="rect">
            <a:avLst/>
          </a:prstGeom>
          <a:noFill/>
          <a:ln/>
        </p:spPr>
        <p:txBody>
          <a:bodyPr wrap="square" lIns="0" tIns="0" rIns="0" bIns="0" rtlCol="0" anchor="ctr"/>
          <a:lstStyle/>
          <a:p>
            <a:pPr algn="ctr" indent="0" marL="0">
              <a:buNone/>
            </a:pPr>
            <a:r>
              <a:rPr lang="en-US" sz="4000" b="1" dirty="0">
                <a:solidFill>
                  <a:srgbClr val="4CC3FF"/>
                </a:solidFill>
                <a:latin typeface="Calibri" pitchFamily="34" charset="0"/>
                <a:ea typeface="Calibri" pitchFamily="34" charset="-122"/>
                <a:cs typeface="Calibri" pitchFamily="34" charset="-120"/>
              </a:rPr>
              <a:t>⇄</a:t>
            </a:r>
            <a:endParaRPr lang="en-US" sz="4000" dirty="0"/>
          </a:p>
        </p:txBody>
      </p:sp>
      <p:sp>
        <p:nvSpPr>
          <p:cNvPr id="11" name="Shape 9"/>
          <p:cNvSpPr/>
          <p:nvPr/>
        </p:nvSpPr>
        <p:spPr>
          <a:xfrm>
            <a:off x="6080760" y="3840480"/>
            <a:ext cx="0" cy="502920"/>
          </a:xfrm>
          <a:prstGeom prst="line">
            <a:avLst/>
          </a:prstGeom>
          <a:noFill/>
          <a:ln w="19050">
            <a:solidFill>
              <a:srgbClr val="3FCF6E"/>
            </a:solidFill>
            <a:prstDash val="dash"/>
          </a:ln>
        </p:spPr>
      </p:sp>
      <p:sp>
        <p:nvSpPr>
          <p:cNvPr id="12" name="Shape 10"/>
          <p:cNvSpPr/>
          <p:nvPr/>
        </p:nvSpPr>
        <p:spPr>
          <a:xfrm>
            <a:off x="4709160" y="4343400"/>
            <a:ext cx="2743200" cy="822960"/>
          </a:xfrm>
          <a:prstGeom prst="roundRect">
            <a:avLst>
              <a:gd name="adj" fmla="val 10000"/>
            </a:avLst>
          </a:prstGeom>
          <a:solidFill>
            <a:srgbClr val="12261C"/>
          </a:solidFill>
          <a:ln w="12700">
            <a:solidFill>
              <a:srgbClr val="3FCF6E"/>
            </a:solidFill>
            <a:prstDash val="solid"/>
          </a:ln>
        </p:spPr>
      </p:sp>
      <p:sp>
        <p:nvSpPr>
          <p:cNvPr id="13" name="Text 11"/>
          <p:cNvSpPr/>
          <p:nvPr/>
        </p:nvSpPr>
        <p:spPr>
          <a:xfrm>
            <a:off x="4709160" y="4507992"/>
            <a:ext cx="2743200" cy="457200"/>
          </a:xfrm>
          <a:prstGeom prst="rect">
            <a:avLst/>
          </a:prstGeom>
          <a:noFill/>
          <a:ln/>
        </p:spPr>
        <p:txBody>
          <a:bodyPr wrap="square" lIns="0" tIns="0" rIns="0" bIns="0" rtlCol="0" anchor="ctr"/>
          <a:lstStyle/>
          <a:p>
            <a:pPr algn="ctr" indent="0" marL="0">
              <a:buNone/>
            </a:pPr>
            <a:r>
              <a:rPr lang="en-US" sz="1600" b="1" dirty="0">
                <a:solidFill>
                  <a:srgbClr val="3FCF6E"/>
                </a:solidFill>
                <a:latin typeface="Calibri" pitchFamily="34" charset="0"/>
                <a:ea typeface="Calibri" pitchFamily="34" charset="-122"/>
                <a:cs typeface="Calibri" pitchFamily="34" charset="-120"/>
              </a:rPr>
              <a:t>ESP32 </a:t>
            </a:r>
            <a:pPr algn="ctr" indent="0" marL="0">
              <a:buNone/>
            </a:pPr>
            <a:r>
              <a:rPr lang="en-US" sz="1300" dirty="0">
                <a:solidFill>
                  <a:srgbClr val="EAF2FB"/>
                </a:solidFill>
                <a:latin typeface="Calibri" pitchFamily="34" charset="0"/>
                <a:ea typeface="Calibri" pitchFamily="34" charset="-122"/>
                <a:cs typeface="Calibri" pitchFamily="34" charset="-120"/>
              </a:rPr>
              <a:t>— branché sur le bus</a:t>
            </a:r>
            <a:endParaRPr lang="en-US" sz="1600" dirty="0"/>
          </a:p>
        </p:txBody>
      </p:sp>
      <p:sp>
        <p:nvSpPr>
          <p:cNvPr id="14" name="Text 12"/>
          <p:cNvSpPr/>
          <p:nvPr/>
        </p:nvSpPr>
        <p:spPr>
          <a:xfrm>
            <a:off x="822960" y="5440680"/>
            <a:ext cx="10515600" cy="457200"/>
          </a:xfrm>
          <a:prstGeom prst="rect">
            <a:avLst/>
          </a:prstGeom>
          <a:noFill/>
          <a:ln/>
        </p:spPr>
        <p:txBody>
          <a:bodyPr wrap="square" lIns="0" tIns="0" rIns="0" bIns="0" rtlCol="0" anchor="ctr"/>
          <a:lstStyle/>
          <a:p>
            <a:pPr indent="0" marL="0">
              <a:buNone/>
            </a:pPr>
            <a:r>
              <a:rPr lang="en-US" sz="1700" b="1" dirty="0">
                <a:solidFill>
                  <a:srgbClr val="4CC3FF"/>
                </a:solidFill>
                <a:latin typeface="Calibri" pitchFamily="34" charset="0"/>
                <a:ea typeface="Calibri" pitchFamily="34" charset="-122"/>
                <a:cs typeface="Calibri" pitchFamily="34" charset="-120"/>
              </a:rPr>
              <a:t>On décode l'échange → l'ESP32 devient l'interface visuelle. </a:t>
            </a:r>
            <a:pPr indent="0" marL="0">
              <a:buNone/>
            </a:pPr>
            <a:r>
              <a:rPr lang="en-US" sz="1700" dirty="0">
                <a:solidFill>
                  <a:srgbClr val="EAF2FB"/>
                </a:solidFill>
                <a:latin typeface="Calibri" pitchFamily="34" charset="0"/>
                <a:ea typeface="Calibri" pitchFamily="34" charset="-122"/>
                <a:cs typeface="Calibri" pitchFamily="34" charset="-120"/>
              </a:rPr>
              <a:t>Un afficheur embarqué, à nous — sans attendre un vendeur.</a:t>
            </a:r>
            <a:endParaRPr lang="en-US" sz="1700" dirty="0"/>
          </a:p>
        </p:txBody>
      </p:sp>
      <p:sp>
        <p:nvSpPr>
          <p:cNvPr id="15" name="Text 13"/>
          <p:cNvSpPr/>
          <p:nvPr/>
        </p:nvSpPr>
        <p:spPr>
          <a:xfrm>
            <a:off x="822960" y="6035040"/>
            <a:ext cx="10515600" cy="365760"/>
          </a:xfrm>
          <a:prstGeom prst="rect">
            <a:avLst/>
          </a:prstGeom>
          <a:noFill/>
          <a:ln/>
        </p:spPr>
        <p:txBody>
          <a:bodyPr wrap="square" lIns="0" tIns="0" rIns="0" bIns="0" rtlCol="0" anchor="ctr"/>
          <a:lstStyle/>
          <a:p>
            <a:pPr indent="0" marL="0">
              <a:buNone/>
            </a:pPr>
            <a:r>
              <a:rPr lang="en-US" sz="1400" i="1" dirty="0">
                <a:solidFill>
                  <a:srgbClr val="9DB2C7"/>
                </a:solidFill>
                <a:latin typeface="Calibri" pitchFamily="34" charset="0"/>
                <a:ea typeface="Calibri" pitchFamily="34" charset="-122"/>
                <a:cs typeface="Calibri" pitchFamily="34" charset="-120"/>
              </a:rPr>
              <a:t>Même méthode que la girouette : écouter, décoder, rejouer — en lecture seule d'abord.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626"/>
        </a:solidFill>
      </p:bgPr>
    </p:bg>
    <p:spTree>
      <p:nvGrpSpPr>
        <p:cNvPr id="1" name=""/>
        <p:cNvGrpSpPr/>
        <p:nvPr/>
      </p:nvGrpSpPr>
      <p:grpSpPr>
        <a:xfrm>
          <a:off x="0" y="0"/>
          <a:ext cx="0" cy="0"/>
          <a:chOff x="0" y="0"/>
          <a:chExt cx="0" cy="0"/>
        </a:xfrm>
      </p:grpSpPr>
      <p:sp>
        <p:nvSpPr>
          <p:cNvPr id="2" name="Text 0"/>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900" dirty="0">
                <a:solidFill>
                  <a:srgbClr val="9DB2C7"/>
                </a:solidFill>
                <a:latin typeface="Calibri" pitchFamily="34" charset="0"/>
                <a:ea typeface="Calibri" pitchFamily="34" charset="-122"/>
                <a:cs typeface="Calibri" pitchFamily="34" charset="-120"/>
              </a:rPr>
              <a:t>8</a:t>
            </a:r>
            <a:endParaRPr lang="en-US" sz="900" dirty="0"/>
          </a:p>
        </p:txBody>
      </p:sp>
      <p:sp>
        <p:nvSpPr>
          <p:cNvPr id="3" name="Text 1"/>
          <p:cNvSpPr/>
          <p:nvPr/>
        </p:nvSpPr>
        <p:spPr>
          <a:xfrm>
            <a:off x="777240" y="1188720"/>
            <a:ext cx="10607040" cy="914400"/>
          </a:xfrm>
          <a:prstGeom prst="rect">
            <a:avLst/>
          </a:prstGeom>
          <a:noFill/>
          <a:ln/>
        </p:spPr>
        <p:txBody>
          <a:bodyPr wrap="square" lIns="0" tIns="0" rIns="0" bIns="0" rtlCol="0" anchor="ctr"/>
          <a:lstStyle/>
          <a:p>
            <a:pPr indent="0" marL="0">
              <a:buNone/>
            </a:pPr>
            <a:r>
              <a:rPr lang="en-US" sz="4400" b="1" dirty="0">
                <a:solidFill>
                  <a:srgbClr val="EAF2FB"/>
                </a:solidFill>
                <a:latin typeface="Calibri" pitchFamily="34" charset="0"/>
                <a:ea typeface="Calibri" pitchFamily="34" charset="-122"/>
                <a:cs typeface="Calibri" pitchFamily="34" charset="-120"/>
              </a:rPr>
              <a:t>Et voir les sites en 3D.</a:t>
            </a:r>
            <a:endParaRPr lang="en-US" sz="4400" dirty="0"/>
          </a:p>
        </p:txBody>
      </p:sp>
      <p:sp>
        <p:nvSpPr>
          <p:cNvPr id="4" name="Text 2"/>
          <p:cNvSpPr/>
          <p:nvPr/>
        </p:nvSpPr>
        <p:spPr>
          <a:xfrm>
            <a:off x="822960" y="2377440"/>
            <a:ext cx="10424160" cy="1005840"/>
          </a:xfrm>
          <a:prstGeom prst="rect">
            <a:avLst/>
          </a:prstGeom>
          <a:noFill/>
          <a:ln/>
        </p:spPr>
        <p:txBody>
          <a:bodyPr wrap="square" lIns="0" tIns="0" rIns="0" bIns="0" rtlCol="0" anchor="ctr"/>
          <a:lstStyle/>
          <a:p>
            <a:pPr indent="0" marL="0">
              <a:buNone/>
            </a:pPr>
            <a:r>
              <a:rPr lang="en-US" sz="1800" dirty="0">
                <a:solidFill>
                  <a:srgbClr val="EAF2FB"/>
                </a:solidFill>
                <a:latin typeface="Calibri" pitchFamily="34" charset="0"/>
                <a:ea typeface="Calibri" pitchFamily="34" charset="-122"/>
                <a:cs typeface="Calibri" pitchFamily="34" charset="-120"/>
              </a:rPr>
              <a:t>Un drone photographie le site, la photogrammétrie en reconstruit un jumeau 3D.</a:t>
            </a:r>
            <a:endParaRPr lang="en-US" sz="1800" dirty="0"/>
          </a:p>
          <a:p>
            <a:pPr indent="0" marL="0">
              <a:buNone/>
            </a:pPr>
            <a:r>
              <a:rPr lang="en-US" sz="1800" dirty="0">
                <a:solidFill>
                  <a:srgbClr val="EAF2FB"/>
                </a:solidFill>
                <a:latin typeface="Calibri" pitchFamily="34" charset="0"/>
                <a:ea typeface="Calibri" pitchFamily="34" charset="-122"/>
                <a:cs typeface="Calibri" pitchFamily="34" charset="-120"/>
              </a:rPr>
              <a:t>On mesure à volonté, on rejoue la visite, on simule l'implantation avant de percer le premier trou.</a:t>
            </a:r>
            <a:endParaRPr lang="en-US" sz="1800" dirty="0"/>
          </a:p>
        </p:txBody>
      </p:sp>
      <p:sp>
        <p:nvSpPr>
          <p:cNvPr id="5" name="Text 3"/>
          <p:cNvSpPr/>
          <p:nvPr/>
        </p:nvSpPr>
        <p:spPr>
          <a:xfrm>
            <a:off x="822960" y="3931920"/>
            <a:ext cx="10424160" cy="548640"/>
          </a:xfrm>
          <a:prstGeom prst="rect">
            <a:avLst/>
          </a:prstGeom>
          <a:noFill/>
          <a:ln/>
        </p:spPr>
        <p:txBody>
          <a:bodyPr wrap="square" lIns="0" tIns="0" rIns="0" bIns="0" rtlCol="0" anchor="ctr"/>
          <a:lstStyle/>
          <a:p>
            <a:pPr indent="0" marL="0">
              <a:buNone/>
            </a:pPr>
            <a:r>
              <a:rPr lang="en-US" sz="1700" i="1" dirty="0">
                <a:solidFill>
                  <a:srgbClr val="9DB2C7"/>
                </a:solidFill>
                <a:latin typeface="Calibri" pitchFamily="34" charset="0"/>
                <a:ea typeface="Calibri" pitchFamily="34" charset="-122"/>
                <a:cs typeface="Calibri" pitchFamily="34" charset="-120"/>
              </a:rPr>
              <a:t>Le même principe que Stock UC : </a:t>
            </a:r>
            <a:pPr indent="0" marL="0">
              <a:buNone/>
            </a:pPr>
            <a:r>
              <a:rPr lang="en-US" sz="1700" b="1" i="1" dirty="0">
                <a:solidFill>
                  <a:srgbClr val="F0B429"/>
                </a:solidFill>
                <a:latin typeface="Calibri" pitchFamily="34" charset="0"/>
                <a:ea typeface="Calibri" pitchFamily="34" charset="-122"/>
                <a:cs typeface="Calibri" pitchFamily="34" charset="-120"/>
              </a:rPr>
              <a:t>capturer une fois, correctement — et ne plus jamais perdre l'information.</a:t>
            </a:r>
            <a:endParaRPr lang="en-US" sz="1700" dirty="0"/>
          </a:p>
        </p:txBody>
      </p:sp>
      <p:sp>
        <p:nvSpPr>
          <p:cNvPr id="6" name="Text 4"/>
          <p:cNvSpPr/>
          <p:nvPr/>
        </p:nvSpPr>
        <p:spPr>
          <a:xfrm>
            <a:off x="822960" y="5029200"/>
            <a:ext cx="10424160" cy="548640"/>
          </a:xfrm>
          <a:prstGeom prst="rect">
            <a:avLst/>
          </a:prstGeom>
          <a:noFill/>
          <a:ln/>
        </p:spPr>
        <p:txBody>
          <a:bodyPr wrap="square" lIns="0" tIns="0" rIns="0" bIns="0" rtlCol="0" anchor="ctr"/>
          <a:lstStyle/>
          <a:p>
            <a:pPr indent="0" marL="0">
              <a:buNone/>
            </a:pPr>
            <a:r>
              <a:rPr lang="en-US" sz="1400" dirty="0">
                <a:solidFill>
                  <a:srgbClr val="9DB2C7"/>
                </a:solidFill>
                <a:latin typeface="Calibri" pitchFamily="34" charset="0"/>
                <a:ea typeface="Calibri" pitchFamily="34" charset="-122"/>
                <a:cs typeface="Calibri" pitchFamily="34" charset="-120"/>
              </a:rPr>
              <a:t>(Notre moteur de rapports rend déjà des bus entiers en 3D. Et le vol, je connais : j'ai construit un contrôleur de vol drone.)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626"/>
        </a:solidFill>
      </p:bgPr>
    </p:bg>
    <p:spTree>
      <p:nvGrpSpPr>
        <p:cNvPr id="1" name=""/>
        <p:cNvGrpSpPr/>
        <p:nvPr/>
      </p:nvGrpSpPr>
      <p:grpSpPr>
        <a:xfrm>
          <a:off x="0" y="0"/>
          <a:ext cx="0" cy="0"/>
          <a:chOff x="0" y="0"/>
          <a:chExt cx="0" cy="0"/>
        </a:xfrm>
      </p:grpSpPr>
      <p:sp>
        <p:nvSpPr>
          <p:cNvPr id="2" name="Text 0"/>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900" dirty="0">
                <a:solidFill>
                  <a:srgbClr val="9DB2C7"/>
                </a:solidFill>
                <a:latin typeface="Calibri" pitchFamily="34" charset="0"/>
                <a:ea typeface="Calibri" pitchFamily="34" charset="-122"/>
                <a:cs typeface="Calibri" pitchFamily="34" charset="-120"/>
              </a:rPr>
              <a:t>9</a:t>
            </a:r>
            <a:endParaRPr lang="en-US" sz="900" dirty="0"/>
          </a:p>
        </p:txBody>
      </p:sp>
      <p:sp>
        <p:nvSpPr>
          <p:cNvPr id="3" name="Text 1"/>
          <p:cNvSpPr/>
          <p:nvPr/>
        </p:nvSpPr>
        <p:spPr>
          <a:xfrm>
            <a:off x="777240" y="777240"/>
            <a:ext cx="10972800" cy="1645920"/>
          </a:xfrm>
          <a:prstGeom prst="rect">
            <a:avLst/>
          </a:prstGeom>
          <a:noFill/>
          <a:ln/>
        </p:spPr>
        <p:txBody>
          <a:bodyPr wrap="square" lIns="0" tIns="0" rIns="0" bIns="0" rtlCol="0" anchor="ctr"/>
          <a:lstStyle/>
          <a:p>
            <a:pPr indent="0" marL="0">
              <a:lnSpc>
                <a:spcPts val="4800"/>
              </a:lnSpc>
              <a:buNone/>
            </a:pPr>
            <a:r>
              <a:rPr lang="en-US" sz="4000" b="1" dirty="0">
                <a:solidFill>
                  <a:srgbClr val="EAF2FB"/>
                </a:solidFill>
                <a:latin typeface="Calibri" pitchFamily="34" charset="0"/>
                <a:ea typeface="Calibri" pitchFamily="34" charset="-122"/>
                <a:cs typeface="Calibri" pitchFamily="34" charset="-120"/>
              </a:rPr>
              <a:t>Ce que je demande : une</a:t>
            </a:r>
            <a:endParaRPr lang="en-US" sz="4000" dirty="0"/>
          </a:p>
          <a:p>
            <a:pPr indent="0" marL="0">
              <a:lnSpc>
                <a:spcPts val="4800"/>
              </a:lnSpc>
              <a:buNone/>
            </a:pPr>
            <a:r>
              <a:rPr lang="en-US" sz="4000" b="1" dirty="0">
                <a:solidFill>
                  <a:srgbClr val="EAF2FB"/>
                </a:solidFill>
                <a:latin typeface="Calibri" pitchFamily="34" charset="0"/>
                <a:ea typeface="Calibri" pitchFamily="34" charset="-122"/>
                <a:cs typeface="Calibri" pitchFamily="34" charset="-120"/>
              </a:rPr>
              <a:t>alternance de 3 ans, avec le CESI.</a:t>
            </a:r>
            <a:endParaRPr lang="en-US" sz="4000" dirty="0"/>
          </a:p>
        </p:txBody>
      </p:sp>
      <p:sp>
        <p:nvSpPr>
          <p:cNvPr id="4" name="Text 2"/>
          <p:cNvSpPr/>
          <p:nvPr/>
        </p:nvSpPr>
        <p:spPr>
          <a:xfrm>
            <a:off x="822960" y="2606040"/>
            <a:ext cx="10789920" cy="457200"/>
          </a:xfrm>
          <a:prstGeom prst="rect">
            <a:avLst/>
          </a:prstGeom>
          <a:noFill/>
          <a:ln/>
        </p:spPr>
        <p:txBody>
          <a:bodyPr wrap="square" lIns="0" tIns="0" rIns="0" bIns="0" rtlCol="0" anchor="ctr"/>
          <a:lstStyle/>
          <a:p>
            <a:pPr indent="0" marL="0">
              <a:buNone/>
            </a:pPr>
            <a:r>
              <a:rPr lang="en-US" sz="1600" dirty="0">
                <a:solidFill>
                  <a:srgbClr val="9DB2C7"/>
                </a:solidFill>
                <a:latin typeface="Calibri" pitchFamily="34" charset="0"/>
                <a:ea typeface="Calibri" pitchFamily="34" charset="-122"/>
                <a:cs typeface="Calibri" pitchFamily="34" charset="-120"/>
              </a:rPr>
              <a:t>Ingénieur systèmes en alternance — et dès les trois premiers mois, un changement mesurable toutes les deux semaines :</a:t>
            </a:r>
            <a:endParaRPr lang="en-US" sz="1600" dirty="0"/>
          </a:p>
        </p:txBody>
      </p:sp>
      <p:sp>
        <p:nvSpPr>
          <p:cNvPr id="5" name="Text 3"/>
          <p:cNvSpPr/>
          <p:nvPr/>
        </p:nvSpPr>
        <p:spPr>
          <a:xfrm>
            <a:off x="822960" y="3154680"/>
            <a:ext cx="10789920" cy="438912"/>
          </a:xfrm>
          <a:prstGeom prst="rect">
            <a:avLst/>
          </a:prstGeom>
          <a:noFill/>
          <a:ln/>
        </p:spPr>
        <p:txBody>
          <a:bodyPr wrap="square" lIns="0" tIns="0" rIns="0" bIns="0" rtlCol="0" anchor="ctr"/>
          <a:lstStyle/>
          <a:p>
            <a:pPr indent="0" marL="0">
              <a:buNone/>
            </a:pPr>
            <a:r>
              <a:rPr lang="en-US" sz="1450" b="1" dirty="0">
                <a:solidFill>
                  <a:srgbClr val="3FCF6E"/>
                </a:solidFill>
                <a:latin typeface="Calibri" pitchFamily="34" charset="0"/>
                <a:ea typeface="Calibri" pitchFamily="34" charset="-122"/>
                <a:cs typeface="Calibri" pitchFamily="34" charset="-120"/>
              </a:rPr>
              <a:t>S1-2</a:t>
            </a:r>
            <a:pPr indent="0" marL="0">
              <a:buNone/>
            </a:pPr>
            <a:r>
              <a:rPr lang="en-US" sz="1450" dirty="0">
                <a:solidFill>
                  <a:srgbClr val="EAF2FB"/>
                </a:solidFill>
                <a:latin typeface="Calibri" pitchFamily="34" charset="0"/>
                <a:ea typeface="Calibri" pitchFamily="34" charset="-122"/>
                <a:cs typeface="Calibri" pitchFamily="34" charset="-120"/>
              </a:rPr>
              <a:t>   Stock UC v2 : les listes attendues — un manquant se voit avant la fin du chantier</a:t>
            </a:r>
            <a:endParaRPr lang="en-US" sz="1450" dirty="0"/>
          </a:p>
        </p:txBody>
      </p:sp>
      <p:sp>
        <p:nvSpPr>
          <p:cNvPr id="6" name="Text 4"/>
          <p:cNvSpPr/>
          <p:nvPr/>
        </p:nvSpPr>
        <p:spPr>
          <a:xfrm>
            <a:off x="822960" y="3611880"/>
            <a:ext cx="10789920" cy="438912"/>
          </a:xfrm>
          <a:prstGeom prst="rect">
            <a:avLst/>
          </a:prstGeom>
          <a:noFill/>
          <a:ln/>
        </p:spPr>
        <p:txBody>
          <a:bodyPr wrap="square" lIns="0" tIns="0" rIns="0" bIns="0" rtlCol="0" anchor="ctr"/>
          <a:lstStyle/>
          <a:p>
            <a:pPr indent="0" marL="0">
              <a:buNone/>
            </a:pPr>
            <a:r>
              <a:rPr lang="en-US" sz="1450" b="1" dirty="0">
                <a:solidFill>
                  <a:srgbClr val="3FCF6E"/>
                </a:solidFill>
                <a:latin typeface="Calibri" pitchFamily="34" charset="0"/>
                <a:ea typeface="Calibri" pitchFamily="34" charset="-122"/>
                <a:cs typeface="Calibri" pitchFamily="34" charset="-120"/>
              </a:rPr>
              <a:t>S3-4</a:t>
            </a:r>
            <a:pPr indent="0" marL="0">
              <a:buNone/>
            </a:pPr>
            <a:r>
              <a:rPr lang="en-US" sz="1450" dirty="0">
                <a:solidFill>
                  <a:srgbClr val="EAF2FB"/>
                </a:solidFill>
                <a:latin typeface="Calibri" pitchFamily="34" charset="0"/>
                <a:ea typeface="Calibri" pitchFamily="34" charset="-122"/>
                <a:cs typeface="Calibri" pitchFamily="34" charset="-120"/>
              </a:rPr>
              <a:t>   le pilote girouettes de référence, avec le collègue qui a décodé Hanover de son côté</a:t>
            </a:r>
            <a:endParaRPr lang="en-US" sz="1450" dirty="0"/>
          </a:p>
        </p:txBody>
      </p:sp>
      <p:sp>
        <p:nvSpPr>
          <p:cNvPr id="7" name="Text 5"/>
          <p:cNvSpPr/>
          <p:nvPr/>
        </p:nvSpPr>
        <p:spPr>
          <a:xfrm>
            <a:off x="822960" y="4069080"/>
            <a:ext cx="10789920" cy="438912"/>
          </a:xfrm>
          <a:prstGeom prst="rect">
            <a:avLst/>
          </a:prstGeom>
          <a:noFill/>
          <a:ln/>
        </p:spPr>
        <p:txBody>
          <a:bodyPr wrap="square" lIns="0" tIns="0" rIns="0" bIns="0" rtlCol="0" anchor="ctr"/>
          <a:lstStyle/>
          <a:p>
            <a:pPr indent="0" marL="0">
              <a:buNone/>
            </a:pPr>
            <a:r>
              <a:rPr lang="en-US" sz="1450" b="1" dirty="0">
                <a:solidFill>
                  <a:srgbClr val="3FCF6E"/>
                </a:solidFill>
                <a:latin typeface="Calibri" pitchFamily="34" charset="0"/>
                <a:ea typeface="Calibri" pitchFamily="34" charset="-122"/>
                <a:cs typeface="Calibri" pitchFamily="34" charset="-120"/>
              </a:rPr>
              <a:t>S5-6</a:t>
            </a:r>
            <a:pPr indent="0" marL="0">
              <a:buNone/>
            </a:pPr>
            <a:r>
              <a:rPr lang="en-US" sz="1450" dirty="0">
                <a:solidFill>
                  <a:srgbClr val="EAF2FB"/>
                </a:solidFill>
                <a:latin typeface="Calibri" pitchFamily="34" charset="0"/>
                <a:ea typeface="Calibri" pitchFamily="34" charset="-122"/>
                <a:cs typeface="Calibri" pitchFamily="34" charset="-120"/>
              </a:rPr>
              <a:t>   les rapports générés en production, avec la métrique heures-par-étude avant / après</a:t>
            </a:r>
            <a:endParaRPr lang="en-US" sz="1450" dirty="0"/>
          </a:p>
        </p:txBody>
      </p:sp>
      <p:sp>
        <p:nvSpPr>
          <p:cNvPr id="8" name="Text 6"/>
          <p:cNvSpPr/>
          <p:nvPr/>
        </p:nvSpPr>
        <p:spPr>
          <a:xfrm>
            <a:off x="822960" y="4526280"/>
            <a:ext cx="10789920" cy="438912"/>
          </a:xfrm>
          <a:prstGeom prst="rect">
            <a:avLst/>
          </a:prstGeom>
          <a:noFill/>
          <a:ln/>
        </p:spPr>
        <p:txBody>
          <a:bodyPr wrap="square" lIns="0" tIns="0" rIns="0" bIns="0" rtlCol="0" anchor="ctr"/>
          <a:lstStyle/>
          <a:p>
            <a:pPr indent="0" marL="0">
              <a:buNone/>
            </a:pPr>
            <a:r>
              <a:rPr lang="en-US" sz="1450" b="1" dirty="0">
                <a:solidFill>
                  <a:srgbClr val="3FCF6E"/>
                </a:solidFill>
                <a:latin typeface="Calibri" pitchFamily="34" charset="0"/>
                <a:ea typeface="Calibri" pitchFamily="34" charset="-122"/>
                <a:cs typeface="Calibri" pitchFamily="34" charset="-120"/>
              </a:rPr>
              <a:t>S7-8</a:t>
            </a:r>
            <a:pPr indent="0" marL="0">
              <a:buNone/>
            </a:pPr>
            <a:r>
              <a:rPr lang="en-US" sz="1450" dirty="0">
                <a:solidFill>
                  <a:srgbClr val="EAF2FB"/>
                </a:solidFill>
                <a:latin typeface="Calibri" pitchFamily="34" charset="0"/>
                <a:ea typeface="Calibri" pitchFamily="34" charset="-122"/>
                <a:cs typeface="Calibri" pitchFamily="34" charset="-120"/>
              </a:rPr>
              <a:t>   Mobitec en natif — sortir du mode gabarit</a:t>
            </a:r>
            <a:endParaRPr lang="en-US" sz="1450" dirty="0"/>
          </a:p>
        </p:txBody>
      </p:sp>
      <p:sp>
        <p:nvSpPr>
          <p:cNvPr id="9" name="Text 7"/>
          <p:cNvSpPr/>
          <p:nvPr/>
        </p:nvSpPr>
        <p:spPr>
          <a:xfrm>
            <a:off x="822960" y="4983480"/>
            <a:ext cx="10789920" cy="438912"/>
          </a:xfrm>
          <a:prstGeom prst="rect">
            <a:avLst/>
          </a:prstGeom>
          <a:noFill/>
          <a:ln/>
        </p:spPr>
        <p:txBody>
          <a:bodyPr wrap="square" lIns="0" tIns="0" rIns="0" bIns="0" rtlCol="0" anchor="ctr"/>
          <a:lstStyle/>
          <a:p>
            <a:pPr indent="0" marL="0">
              <a:buNone/>
            </a:pPr>
            <a:r>
              <a:rPr lang="en-US" sz="1450" b="1" dirty="0">
                <a:solidFill>
                  <a:srgbClr val="3FCF6E"/>
                </a:solidFill>
                <a:latin typeface="Calibri" pitchFamily="34" charset="0"/>
                <a:ea typeface="Calibri" pitchFamily="34" charset="-122"/>
                <a:cs typeface="Calibri" pitchFamily="34" charset="-120"/>
              </a:rPr>
              <a:t>S9-10</a:t>
            </a:r>
            <a:pPr indent="0" marL="0">
              <a:buNone/>
            </a:pPr>
            <a:r>
              <a:rPr lang="en-US" sz="1450" dirty="0">
                <a:solidFill>
                  <a:srgbClr val="EAF2FB"/>
                </a:solidFill>
                <a:latin typeface="Calibri" pitchFamily="34" charset="0"/>
                <a:ea typeface="Calibri" pitchFamily="34" charset="-122"/>
                <a:cs typeface="Calibri" pitchFamily="34" charset="-120"/>
              </a:rPr>
              <a:t>   le flux et la santé des rapports, en direct dans la routine COPIL</a:t>
            </a:r>
            <a:endParaRPr lang="en-US" sz="1450" dirty="0"/>
          </a:p>
        </p:txBody>
      </p:sp>
      <p:sp>
        <p:nvSpPr>
          <p:cNvPr id="10" name="Text 8"/>
          <p:cNvSpPr/>
          <p:nvPr/>
        </p:nvSpPr>
        <p:spPr>
          <a:xfrm>
            <a:off x="822960" y="5440680"/>
            <a:ext cx="10789920" cy="438912"/>
          </a:xfrm>
          <a:prstGeom prst="rect">
            <a:avLst/>
          </a:prstGeom>
          <a:noFill/>
          <a:ln/>
        </p:spPr>
        <p:txBody>
          <a:bodyPr wrap="square" lIns="0" tIns="0" rIns="0" bIns="0" rtlCol="0" anchor="ctr"/>
          <a:lstStyle/>
          <a:p>
            <a:pPr indent="0" marL="0">
              <a:buNone/>
            </a:pPr>
            <a:r>
              <a:rPr lang="en-US" sz="1450" b="1" dirty="0">
                <a:solidFill>
                  <a:srgbClr val="3FCF6E"/>
                </a:solidFill>
                <a:latin typeface="Calibri" pitchFamily="34" charset="0"/>
                <a:ea typeface="Calibri" pitchFamily="34" charset="-122"/>
                <a:cs typeface="Calibri" pitchFamily="34" charset="-120"/>
              </a:rPr>
              <a:t>S11-12</a:t>
            </a:r>
            <a:pPr indent="0" marL="0">
              <a:buNone/>
            </a:pPr>
            <a:r>
              <a:rPr lang="en-US" sz="1450" dirty="0">
                <a:solidFill>
                  <a:srgbClr val="EAF2FB"/>
                </a:solidFill>
                <a:latin typeface="Calibri" pitchFamily="34" charset="0"/>
                <a:ea typeface="Calibri" pitchFamily="34" charset="-122"/>
                <a:cs typeface="Calibri" pitchFamily="34" charset="-120"/>
              </a:rPr>
              <a:t>   transfert à l'équipe : playbooks, formation, bilan chiffré — et premier vol photogrammétrie</a:t>
            </a:r>
            <a:endParaRPr lang="en-US" sz="1450" dirty="0"/>
          </a:p>
        </p:txBody>
      </p:sp>
      <p:sp>
        <p:nvSpPr>
          <p:cNvPr id="11" name="Text 9"/>
          <p:cNvSpPr/>
          <p:nvPr/>
        </p:nvSpPr>
        <p:spPr>
          <a:xfrm>
            <a:off x="822960" y="6035040"/>
            <a:ext cx="10789920" cy="457200"/>
          </a:xfrm>
          <a:prstGeom prst="rect">
            <a:avLst/>
          </a:prstGeom>
          <a:noFill/>
          <a:ln/>
        </p:spPr>
        <p:txBody>
          <a:bodyPr wrap="square" lIns="0" tIns="0" rIns="0" bIns="0" rtlCol="0" anchor="ctr"/>
          <a:lstStyle/>
          <a:p>
            <a:pPr indent="0" marL="0">
              <a:buNone/>
            </a:pPr>
            <a:r>
              <a:rPr lang="en-US" sz="1500" i="1" dirty="0">
                <a:solidFill>
                  <a:srgbClr val="4CC3FF"/>
                </a:solidFill>
                <a:latin typeface="Calibri" pitchFamily="34" charset="0"/>
                <a:ea typeface="Calibri" pitchFamily="34" charset="-122"/>
                <a:cs typeface="Calibri" pitchFamily="34" charset="-120"/>
              </a:rPr>
              <a:t>Et sur trois ans : le contrôleur girouettes industrialisé, l'usine à rapports en standard — et un ingénieur formé chez SVT, pour SVT.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626"/>
        </a:solidFill>
      </p:bgPr>
    </p:bg>
    <p:spTree>
      <p:nvGrpSpPr>
        <p:cNvPr id="1" name=""/>
        <p:cNvGrpSpPr/>
        <p:nvPr/>
      </p:nvGrpSpPr>
      <p:grpSpPr>
        <a:xfrm>
          <a:off x="0" y="0"/>
          <a:ext cx="0" cy="0"/>
          <a:chOff x="0" y="0"/>
          <a:chExt cx="0" cy="0"/>
        </a:xfrm>
      </p:grpSpPr>
      <p:sp>
        <p:nvSpPr>
          <p:cNvPr id="2" name="Text 0"/>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900" dirty="0">
                <a:solidFill>
                  <a:srgbClr val="9DB2C7"/>
                </a:solidFill>
                <a:latin typeface="Calibri" pitchFamily="34" charset="0"/>
                <a:ea typeface="Calibri" pitchFamily="34" charset="-122"/>
                <a:cs typeface="Calibri" pitchFamily="34" charset="-120"/>
              </a:rPr>
              <a:t>10</a:t>
            </a:r>
            <a:endParaRPr lang="en-US" sz="900" dirty="0"/>
          </a:p>
        </p:txBody>
      </p:sp>
      <p:sp>
        <p:nvSpPr>
          <p:cNvPr id="3" name="Text 1"/>
          <p:cNvSpPr/>
          <p:nvPr/>
        </p:nvSpPr>
        <p:spPr>
          <a:xfrm>
            <a:off x="777240" y="1828800"/>
            <a:ext cx="10607040" cy="1828800"/>
          </a:xfrm>
          <a:prstGeom prst="rect">
            <a:avLst/>
          </a:prstGeom>
          <a:noFill/>
          <a:ln/>
        </p:spPr>
        <p:txBody>
          <a:bodyPr wrap="square" lIns="0" tIns="0" rIns="0" bIns="0" rtlCol="0" anchor="ctr"/>
          <a:lstStyle/>
          <a:p>
            <a:pPr algn="ctr" indent="0" marL="0">
              <a:lnSpc>
                <a:spcPts val="5600"/>
              </a:lnSpc>
              <a:buNone/>
            </a:pPr>
            <a:r>
              <a:rPr lang="en-US" sz="4800" b="1" dirty="0">
                <a:solidFill>
                  <a:srgbClr val="EAF2FB"/>
                </a:solidFill>
                <a:latin typeface="Calibri" pitchFamily="34" charset="0"/>
                <a:ea typeface="Calibri" pitchFamily="34" charset="-122"/>
                <a:cs typeface="Calibri" pitchFamily="34" charset="-120"/>
              </a:rPr>
              <a:t>Huit switches perdus</a:t>
            </a:r>
            <a:endParaRPr lang="en-US" sz="4800" dirty="0"/>
          </a:p>
          <a:p>
            <a:pPr algn="ctr" indent="0" marL="0">
              <a:lnSpc>
                <a:spcPts val="5600"/>
              </a:lnSpc>
              <a:buNone/>
            </a:pPr>
            <a:r>
              <a:rPr lang="en-US" sz="4800" b="1" dirty="0">
                <a:solidFill>
                  <a:srgbClr val="EAF2FB"/>
                </a:solidFill>
                <a:latin typeface="Calibri" pitchFamily="34" charset="0"/>
                <a:ea typeface="Calibri" pitchFamily="34" charset="-122"/>
                <a:cs typeface="Calibri" pitchFamily="34" charset="-120"/>
              </a:rPr>
              <a:t>ont lancé tout ça.</a:t>
            </a:r>
            <a:endParaRPr lang="en-US" sz="4800" dirty="0"/>
          </a:p>
        </p:txBody>
      </p:sp>
      <p:sp>
        <p:nvSpPr>
          <p:cNvPr id="4" name="Text 2"/>
          <p:cNvSpPr/>
          <p:nvPr/>
        </p:nvSpPr>
        <p:spPr>
          <a:xfrm>
            <a:off x="822960" y="3931920"/>
            <a:ext cx="10424160" cy="548640"/>
          </a:xfrm>
          <a:prstGeom prst="rect">
            <a:avLst/>
          </a:prstGeom>
          <a:noFill/>
          <a:ln/>
        </p:spPr>
        <p:txBody>
          <a:bodyPr wrap="square" lIns="0" tIns="0" rIns="0" bIns="0" rtlCol="0" anchor="ctr"/>
          <a:lstStyle/>
          <a:p>
            <a:pPr algn="ctr" indent="0" marL="0">
              <a:buNone/>
            </a:pPr>
            <a:r>
              <a:rPr lang="en-US" sz="2200" dirty="0">
                <a:solidFill>
                  <a:srgbClr val="4CC3FF"/>
                </a:solidFill>
                <a:latin typeface="Calibri" pitchFamily="34" charset="0"/>
                <a:ea typeface="Calibri" pitchFamily="34" charset="-122"/>
                <a:cs typeface="Calibri" pitchFamily="34" charset="-120"/>
              </a:rPr>
              <a:t>Voyons ce qu'on construit en trois ans.</a:t>
            </a:r>
            <a:endParaRPr lang="en-US" sz="2200" dirty="0"/>
          </a:p>
        </p:txBody>
      </p:sp>
      <p:sp>
        <p:nvSpPr>
          <p:cNvPr id="5" name="Text 3"/>
          <p:cNvSpPr/>
          <p:nvPr/>
        </p:nvSpPr>
        <p:spPr>
          <a:xfrm>
            <a:off x="822960" y="5577840"/>
            <a:ext cx="10424160" cy="365760"/>
          </a:xfrm>
          <a:prstGeom prst="rect">
            <a:avLst/>
          </a:prstGeom>
          <a:noFill/>
          <a:ln/>
        </p:spPr>
        <p:txBody>
          <a:bodyPr wrap="square" lIns="0" tIns="0" rIns="0" bIns="0" rtlCol="0" anchor="ctr"/>
          <a:lstStyle/>
          <a:p>
            <a:pPr algn="ctr" indent="0" marL="0">
              <a:buNone/>
            </a:pPr>
            <a:r>
              <a:rPr lang="en-US" sz="1300" dirty="0">
                <a:solidFill>
                  <a:srgbClr val="9DB2C7"/>
                </a:solidFill>
                <a:latin typeface="Calibri" pitchFamily="34" charset="0"/>
                <a:ea typeface="Calibri" pitchFamily="34" charset="-122"/>
                <a:cs typeface="Calibri" pitchFamily="34" charset="-120"/>
              </a:rPr>
              <a:t>Julien Abdou Gonzales  ·  julienabdougonzales@gmail.com  ·  abysse8.github.io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2026-08-18T01:26:06Z</dcterms:created>
  <dcterms:modified xsi:type="dcterms:W3CDTF">2026-08-18T01:26:06Z</dcterms:modified>
</cp:coreProperties>
</file>