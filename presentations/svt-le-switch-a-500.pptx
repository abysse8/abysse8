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bysse8/ac194e7e-6269-5e67-b723-29d3d107b6da/scratchpad/oldmedia/image-14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2" y="0"/>
            <a:ext cx="5852160" cy="32918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36792" y="3291840"/>
            <a:ext cx="5852160" cy="3566160"/>
          </a:xfrm>
          <a:prstGeom prst="rect">
            <a:avLst/>
          </a:prstGeom>
          <a:solidFill>
            <a:srgbClr val="13273D"/>
          </a:solidFill>
          <a:ln/>
        </p:spPr>
      </p:sp>
      <p:sp>
        <p:nvSpPr>
          <p:cNvPr id="4" name="Text 1"/>
          <p:cNvSpPr/>
          <p:nvPr/>
        </p:nvSpPr>
        <p:spPr>
          <a:xfrm>
            <a:off x="6629400" y="3429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Girouette Hanover réelle, pilotée par l'ESP32 SVT — sans logiciel vendeur.</a:t>
            </a:r>
            <a:endParaRPr lang="en-US" sz="1100" dirty="0"/>
          </a:p>
        </p:txBody>
      </p:sp>
      <p:pic>
        <p:nvPicPr>
          <p:cNvPr id="5" name="Image 1" descr="/tmp/claude-0/-home-user-abysse8/ac194e7e-6269-5e67-b723-29d3d107b6da/scratchpad/stockuc-sc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3931920"/>
            <a:ext cx="969264" cy="2432304"/>
          </a:xfrm>
          <a:prstGeom prst="rect">
            <a:avLst/>
          </a:prstGeom>
        </p:spPr>
      </p:pic>
      <p:pic>
        <p:nvPicPr>
          <p:cNvPr id="6" name="Image 2" descr="/tmp/claude-0/-home-user-abysse8/ac194e7e-6269-5e67-b723-29d3d107b6da/scratchpad/stockuc-cop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931920"/>
            <a:ext cx="1069848" cy="243230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509760" y="44805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UC en production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caméra et vue COPIL,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les téléphones de l'équipe.</a:t>
            </a:r>
            <a:endParaRPr lang="en-US" sz="1100" dirty="0"/>
          </a:p>
        </p:txBody>
      </p:sp>
      <p:sp>
        <p:nvSpPr>
          <p:cNvPr id="8" name="Text 3"/>
          <p:cNvSpPr/>
          <p:nvPr/>
        </p:nvSpPr>
        <p:spPr>
          <a:xfrm>
            <a:off x="59436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·  AOÛT 2026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66928" y="118872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SWITCH</a:t>
            </a:r>
            <a:endParaRPr lang="en-US" sz="48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8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500 €</a:t>
            </a:r>
            <a:endParaRPr lang="en-US" sz="4800" dirty="0"/>
          </a:p>
        </p:txBody>
      </p:sp>
      <p:sp>
        <p:nvSpPr>
          <p:cNvPr id="10" name="Text 5"/>
          <p:cNvSpPr/>
          <p:nvPr/>
        </p:nvSpPr>
        <p:spPr>
          <a:xfrm>
            <a:off x="594360" y="30632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L'histoire d'une promesse : du changement réel en deux semaines — et ce que trois mois ont construit.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594360" y="41605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/>
        </p:spPr>
      </p:sp>
      <p:sp>
        <p:nvSpPr>
          <p:cNvPr id="12" name="Text 7"/>
          <p:cNvSpPr/>
          <p:nvPr/>
        </p:nvSpPr>
        <p:spPr>
          <a:xfrm>
            <a:off x="594360" y="4153205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1150" dirty="0"/>
          </a:p>
        </p:txBody>
      </p:sp>
      <p:sp>
        <p:nvSpPr>
          <p:cNvPr id="13" name="Text 8"/>
          <p:cNvSpPr/>
          <p:nvPr/>
        </p:nvSpPr>
        <p:spPr>
          <a:xfrm>
            <a:off x="2103120" y="4096512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2468880" y="41605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4CC3FF"/>
          </a:solidFill>
          <a:ln/>
        </p:spPr>
      </p:sp>
      <p:sp>
        <p:nvSpPr>
          <p:cNvPr id="15" name="Text 10"/>
          <p:cNvSpPr/>
          <p:nvPr/>
        </p:nvSpPr>
        <p:spPr>
          <a:xfrm>
            <a:off x="2468880" y="4153205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3977640" y="4096512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4343400" y="4160520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3DDC84"/>
          </a:solidFill>
          <a:ln/>
        </p:spPr>
      </p:sp>
      <p:sp>
        <p:nvSpPr>
          <p:cNvPr id="18" name="Text 13"/>
          <p:cNvSpPr/>
          <p:nvPr/>
        </p:nvSpPr>
        <p:spPr>
          <a:xfrm>
            <a:off x="4343400" y="4153205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APPRIS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94360" y="47091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projet, raconté de la même façon — le format dans lequel je documente déjà mon travail chaque semaine.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59436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Julien Abdou Gonzales  ·  portfolio &amp; proposition de stage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PROBLEME - ACTION - APPRIS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/ L'HISTOIRE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chantier. Des switches manquent.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6675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switches à 500 € pièce, introuvables. 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Reçus ? Posés ? Perdus ? Personne ne pouvait répondre : aucune trace d'entrée, aucune trace de sortie — juste des cartons, des souvenirs, et des heures à fouiller.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ce matériel est sous la responsabilité contractuelle de SVT. L'entreprise aurait pu être tenue responsable — sur des équipements dont elle ne pouvait même pas prouver le parcours.</a:t>
            </a:r>
            <a:endParaRPr lang="en-US" sz="2000" dirty="0"/>
          </a:p>
          <a:p>
            <a:pPr indent="0" marL="0">
              <a:buNone/>
            </a:pPr>
            <a:r>
              <a:rPr lang="en-US" sz="1500" i="1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vrai coût n'était pas 500 €. C'était le doute au COPIL, les heures perdues, et la confiance du client.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02920" y="4709160"/>
            <a:ext cx="6675120" cy="1417320"/>
          </a:xfrm>
          <a:prstGeom prst="roundRect">
            <a:avLst>
              <a:gd name="adj" fmla="val 5806"/>
            </a:avLst>
          </a:prstGeom>
          <a:solidFill>
            <a:srgbClr val="1A3350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98348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bonne question n'était pas « qui a perdu le switch ? »</a:t>
            </a:r>
            <a:endParaRPr lang="en-US" sz="1500" dirty="0"/>
          </a:p>
          <a:p>
            <a:pPr indent="0" marL="0">
              <a:buNone/>
            </a:pPr>
            <a:r>
              <a:rPr lang="en-US" sz="160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C'était : « pourquoi notre système permet-il d'en perdre un ? »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52360" y="1600200"/>
            <a:ext cx="4224528" cy="4526280"/>
          </a:xfrm>
          <a:prstGeom prst="roundRect">
            <a:avLst>
              <a:gd name="adj" fmla="val 1948"/>
            </a:avLst>
          </a:prstGeom>
          <a:solidFill>
            <a:srgbClr val="1A3350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52360" y="1874520"/>
            <a:ext cx="4224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500 €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7452360" y="2697480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d'un seul équipement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historique ni traçabilité</a:t>
            </a:r>
            <a:endParaRPr lang="en-US" sz="1150" dirty="0"/>
          </a:p>
        </p:txBody>
      </p:sp>
      <p:pic>
        <p:nvPicPr>
          <p:cNvPr id="12" name="Image 0" descr="/tmp/claude-0/-home-user-abysse8/ac194e7e-6269-5e67-b723-29d3d107b6da/scratchpad/stockuc-s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0" y="3383280"/>
            <a:ext cx="1042416" cy="2615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52360" y="6035040"/>
            <a:ext cx="4224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cartons identiques,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mémoire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PROBLEME - ACTION - APPRIS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LA PROMESSE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Du changement réel en deux semaines. »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promesse de ma lettre de motivation. La voici, tenue : de l'idée de Josué à une app en production, utilisée par l'équipe.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2688336" cy="1783080"/>
          </a:xfrm>
          <a:prstGeom prst="roundRect">
            <a:avLst>
              <a:gd name="adj" fmla="val 4615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212140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2114093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L'IDÉE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04088" y="25603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Josué : « scanner les entrants et sortants pour prévenir les manques en fin de chantier ».</a:t>
            </a:r>
            <a:endParaRPr lang="en-US" sz="1030" dirty="0"/>
          </a:p>
        </p:txBody>
      </p:sp>
      <p:sp>
        <p:nvSpPr>
          <p:cNvPr id="11" name="Text 9"/>
          <p:cNvSpPr/>
          <p:nvPr/>
        </p:nvSpPr>
        <p:spPr>
          <a:xfrm>
            <a:off x="3154680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55848" y="1920240"/>
            <a:ext cx="2688336" cy="1783080"/>
          </a:xfrm>
          <a:prstGeom prst="roundRect">
            <a:avLst>
              <a:gd name="adj" fmla="val 4615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57016" y="212140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BC8CFF"/>
          </a:solidFill>
          <a:ln/>
        </p:spPr>
      </p:sp>
      <p:sp>
        <p:nvSpPr>
          <p:cNvPr id="14" name="Text 12"/>
          <p:cNvSpPr/>
          <p:nvPr/>
        </p:nvSpPr>
        <p:spPr>
          <a:xfrm>
            <a:off x="3557016" y="2114093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57016" y="25603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UC : scan en rafale, états colorés, base partagée, hors-ligne, export Excel — testée (14 API + 17 e2e).</a:t>
            </a: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007608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08776" y="1920240"/>
            <a:ext cx="2688336" cy="1783080"/>
          </a:xfrm>
          <a:prstGeom prst="roundRect">
            <a:avLst>
              <a:gd name="adj" fmla="val 4615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9944" y="212140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778B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9944" y="2114093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9944" y="25603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ligne sur svt-communication.vercel.app — partagée à l'équipe par simple lien, aucune installation.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8860536" y="2606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061704" y="1920240"/>
            <a:ext cx="2688336" cy="1783080"/>
          </a:xfrm>
          <a:prstGeom prst="roundRect">
            <a:avLst>
              <a:gd name="adj" fmla="val 4615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62872" y="212140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3FCF6E"/>
          </a:solidFill>
          <a:ln/>
        </p:spPr>
      </p:sp>
      <p:sp>
        <p:nvSpPr>
          <p:cNvPr id="24" name="Text 22"/>
          <p:cNvSpPr/>
          <p:nvPr/>
        </p:nvSpPr>
        <p:spPr>
          <a:xfrm>
            <a:off x="9262872" y="2114093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L'ADOPTION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262872" y="256032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 scannée carton par carton ; la vue COPIL se remplit en direct sur tous les téléphones.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502920" y="3977640"/>
            <a:ext cx="7772400" cy="2148840"/>
          </a:xfrm>
          <a:prstGeom prst="roundRect">
            <a:avLst>
              <a:gd name="adj" fmla="val 3830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41605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PREUVE, CAPTURÉE SUR LE TERRAIN LE 6 AOÛT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452628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685800" y="520293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 suivis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temps réel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560320" y="452628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2560320" y="520293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déjà passés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« Programmé »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434840" y="452628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4434840" y="520293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chacun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ligne COPIL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09360" y="4526280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35" name="Text 33"/>
          <p:cNvSpPr/>
          <p:nvPr/>
        </p:nvSpPr>
        <p:spPr>
          <a:xfrm>
            <a:off x="6309360" y="5202936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perdu 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hors-ligne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458200" y="3977640"/>
            <a:ext cx="3218688" cy="2148840"/>
          </a:xfrm>
          <a:prstGeom prst="roundRect">
            <a:avLst>
              <a:gd name="adj" fmla="val 3830"/>
            </a:avLst>
          </a:prstGeom>
          <a:solidFill>
            <a:srgbClr val="1A3350"/>
          </a:solidFill>
          <a:ln w="9525">
            <a:solidFill>
              <a:srgbClr val="2C4A6B"/>
            </a:solidFill>
            <a:prstDash val="solid"/>
          </a:ln>
        </p:spPr>
      </p:sp>
      <p:pic>
        <p:nvPicPr>
          <p:cNvPr id="37" name="Image 0" descr="/tmp/claude-0/-home-user-abysse8/ac194e7e-6269-5e67-b723-29d3d107b6da/scratchpad/stockuc-cop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4160520"/>
            <a:ext cx="786384" cy="178308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9692640" y="45720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vue COPIL en direct,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un téléphone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l'équipe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PROBLEME - ACTION - APPRIS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STOCK UC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jamais un switch sans histoire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675888" cy="4160520"/>
          </a:xfrm>
          <a:prstGeom prst="roundRect">
            <a:avLst>
              <a:gd name="adj" fmla="val 2239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6420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5689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321868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trace des entrants et sortants : les manques se découvrent en fin de chantier, quand il est trop tard.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cartons identiques, des équipements anonymes, une responsabilité contractuelle exposée.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suivi « reçu → programmé » demandé au COPIL n'existait nulle part.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463040"/>
            <a:ext cx="3675888" cy="4160520"/>
          </a:xfrm>
          <a:prstGeom prst="roundRect">
            <a:avLst>
              <a:gd name="adj" fmla="val 2239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66420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4CC3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65689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2148840"/>
            <a:ext cx="321868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web app zéro installation : caméra (ZXing WebAssembly, ~0,4 s), douchette ou saisie — scan en rafale.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vie complet : Reçu → Programmé → Planifié → Sorti (+ Défectueux), chaque mouvement daté et journalisé.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partagée (Vercel + Redis, PIN d'équipe), file hors-ligne, vue COPIL en direct, export Excel 3 feuilles.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83880" y="1463040"/>
            <a:ext cx="3675888" cy="4160520"/>
          </a:xfrm>
          <a:prstGeom prst="roundRect">
            <a:avLst>
              <a:gd name="adj" fmla="val 2239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166420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3DDC84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65689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APPRIS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12480" y="2148840"/>
            <a:ext cx="321868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doit rendre la perte impossible — pas blâmer les gens : préfixes canoniques, code inconnu = refus net.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L'outil le plus simple à déployer (un lien) est celui que l'équipe adopte vraiment.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app de terrain n'a pas le droit de perdre un scan : le hors-ligne n'est pas un bonus, c'est le contrat.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5852160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5844845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Reçu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874520" y="5852160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BC8CFF"/>
          </a:solidFill>
          <a:ln/>
        </p:spPr>
      </p:sp>
      <p:sp>
        <p:nvSpPr>
          <p:cNvPr id="21" name="Text 19"/>
          <p:cNvSpPr/>
          <p:nvPr/>
        </p:nvSpPr>
        <p:spPr>
          <a:xfrm>
            <a:off x="1874520" y="5844845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Programmé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46120" y="5852160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F778BA"/>
          </a:solidFill>
          <a:ln/>
        </p:spPr>
      </p:sp>
      <p:sp>
        <p:nvSpPr>
          <p:cNvPr id="23" name="Text 21"/>
          <p:cNvSpPr/>
          <p:nvPr/>
        </p:nvSpPr>
        <p:spPr>
          <a:xfrm>
            <a:off x="3246120" y="5844845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Planifié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17720" y="5852160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3FCF6E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5844845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89320" y="5852160"/>
            <a:ext cx="1225296" cy="310896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/>
        </p:spPr>
      </p:sp>
      <p:sp>
        <p:nvSpPr>
          <p:cNvPr id="27" name="Text 25"/>
          <p:cNvSpPr/>
          <p:nvPr/>
        </p:nvSpPr>
        <p:spPr>
          <a:xfrm>
            <a:off x="5989320" y="5844845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Défectueux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98080" y="587044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re-scan = flash plein écran de la couleur de l'état — lecture instantanée, sans regarder le texte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PROBLEME - ACTION - APPRIS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TROIS MOIS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même méthode, appliquée partout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UC n'est pas un coup de chance — c'est une méthode. Voici ce qu'elle a construit d'autre, projet par projet, toujours en Problème → Action → Appris.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2724912" cy="3520440"/>
          </a:xfrm>
          <a:prstGeom prst="roundRect">
            <a:avLst>
              <a:gd name="adj" fmla="val 3020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86000"/>
            <a:ext cx="2267712" cy="310896"/>
          </a:xfrm>
          <a:prstGeom prst="roundRect">
            <a:avLst>
              <a:gd name="adj" fmla="val 50000"/>
            </a:avLst>
          </a:prstGeom>
          <a:solidFill>
            <a:srgbClr val="3FCF6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78685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22677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UC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&amp; suivi du matériel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 SMS RUT241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piloté par texto en LTE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caméra Mobitec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expérimentation autonome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 des UC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unités en parallèle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55848" y="2057400"/>
            <a:ext cx="2724912" cy="3520440"/>
          </a:xfrm>
          <a:prstGeom prst="roundRect">
            <a:avLst>
              <a:gd name="adj" fmla="val 3020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84448" y="2286000"/>
            <a:ext cx="2267712" cy="310896"/>
          </a:xfrm>
          <a:prstGeom prst="roundRect">
            <a:avLst>
              <a:gd name="adj" fmla="val 50000"/>
            </a:avLst>
          </a:prstGeom>
          <a:solidFill>
            <a:srgbClr val="4CC3FF"/>
          </a:solidFill>
          <a:ln/>
        </p:spPr>
      </p:sp>
      <p:sp>
        <p:nvSpPr>
          <p:cNvPr id="13" name="Text 11"/>
          <p:cNvSpPr/>
          <p:nvPr/>
        </p:nvSpPr>
        <p:spPr>
          <a:xfrm>
            <a:off x="3584448" y="2278685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584448" y="2788920"/>
            <a:ext cx="22677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Synchroteam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67 932 interventions miroir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COPIL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site-first, 899 sites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métier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identifiant à mémoriser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MCP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seule pour les IA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08776" y="2057400"/>
            <a:ext cx="2724912" cy="3520440"/>
          </a:xfrm>
          <a:prstGeom prst="roundRect">
            <a:avLst>
              <a:gd name="adj" fmla="val 3020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37376" y="2286000"/>
            <a:ext cx="2267712" cy="310896"/>
          </a:xfrm>
          <a:prstGeom prst="roundRect">
            <a:avLst>
              <a:gd name="adj" fmla="val 50000"/>
            </a:avLst>
          </a:prstGeom>
          <a:solidFill>
            <a:srgbClr val="F778BA"/>
          </a:solidFill>
          <a:ln/>
        </p:spPr>
      </p:sp>
      <p:sp>
        <p:nvSpPr>
          <p:cNvPr id="17" name="Text 15"/>
          <p:cNvSpPr/>
          <p:nvPr/>
        </p:nvSpPr>
        <p:spPr>
          <a:xfrm>
            <a:off x="6437376" y="2278685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37376" y="2788920"/>
            <a:ext cx="22677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Usine à rapports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→ études DOCX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/rapport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document est l'interface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3D headless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planches d'implantation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Vocabulaire miné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363 Mo de rapports validés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61704" y="2057400"/>
            <a:ext cx="2724912" cy="3520440"/>
          </a:xfrm>
          <a:prstGeom prst="roundRect">
            <a:avLst>
              <a:gd name="adj" fmla="val 3020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90304" y="2286000"/>
            <a:ext cx="2267712" cy="310896"/>
          </a:xfrm>
          <a:prstGeom prst="roundRect">
            <a:avLst>
              <a:gd name="adj" fmla="val 50000"/>
            </a:avLst>
          </a:prstGeom>
          <a:solidFill>
            <a:srgbClr val="BC8CFF"/>
          </a:solidFill>
          <a:ln/>
        </p:spPr>
      </p:sp>
      <p:sp>
        <p:nvSpPr>
          <p:cNvPr id="21" name="Text 19"/>
          <p:cNvSpPr/>
          <p:nvPr/>
        </p:nvSpPr>
        <p:spPr>
          <a:xfrm>
            <a:off x="9290304" y="2278685"/>
            <a:ext cx="226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290304" y="2788920"/>
            <a:ext cx="22677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Contrôleur girouettes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Hanover · Mobitec · Lumiplan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ESP32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bus RS485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KiCad v1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un boîtier de série</a:t>
            </a:r>
            <a:endParaRPr lang="en-US" sz="12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5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 KV260</a:t>
            </a:r>
            <a:endParaRPr lang="en-US" sz="1250" dirty="0"/>
          </a:p>
          <a:p>
            <a:pPr indent="0" marL="0">
              <a:spcAft>
                <a:spcPts val="1100"/>
              </a:spcAft>
              <a:buNone/>
            </a:pPr>
            <a:r>
              <a:rPr lang="en-US" sz="11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 vidéo en cours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585216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volant : terrain → preuves → rapports → COPIL → terrain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PROBLEME - ACTION - APPRIS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L'USINE À RAPPORTS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goulot le plus cher de l'entreprise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chantier est fini, mais le livrable attend la rédaction — chaque heure d'écriture est une heure de facturation qui attend.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3675888" cy="3840480"/>
          </a:xfrm>
          <a:prstGeom prst="roundRect">
            <a:avLst>
              <a:gd name="adj" fmla="val 2239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8424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7693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21868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Études véhicules (clients comme KEOLIS) sont assemblées à la main depuis Synchroteam, les notes et les photos.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 mauvais rapport → mauvaise info → mauvais équipement → mauvaise installation » : le rapport est le premier domino.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erreurs de conformité apparaissent chez le client, au pire moment.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675888" cy="3840480"/>
          </a:xfrm>
          <a:prstGeom prst="roundRect">
            <a:avLst>
              <a:gd name="adj" fmla="val 2239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98424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4CC3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97693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0" y="2468880"/>
            <a:ext cx="321868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complet (~34 600 lignes) : preuves → mapping IA → portes de conformité bloquantes → DOCX final.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cockpit /rapport : le document est l'interface — chaque champ montre sa preuve, la conformité s'annonce avant l'export.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3D headless : les planches d'implantation rendues depuis des modèles de bus (10 m et 18 m), sans humain ni GPU.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83880" y="1783080"/>
            <a:ext cx="3675888" cy="3840480"/>
          </a:xfrm>
          <a:prstGeom prst="roundRect">
            <a:avLst>
              <a:gd name="adj" fmla="val 2239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198424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3DDC84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97693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0" y="2468880"/>
            <a:ext cx="321868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croire une IA sur parole : pas de preuve, pas de valeur — les suggestions sans ancrage sont mises en quarantaine.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langue compte : 363 Mo de rapports validés minés pour que la génération parle celle que les relecteurs acceptent déjà.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portes bloquantes attrapent les erreurs avant la porte du client — la qualité s'impose, elle ne s'espère pas.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5852160"/>
            <a:ext cx="1117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SYNCHROTEAM  →  PAQUETS DE PREUVES  →  MAPPING IA  →  PORTES DE CONFORMITÉ  →  DOCX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PROBLEME - ACTION - APPRIS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EXPLOITATION &amp; COPIL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Rendre l'activité visible sans toucher à la production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C'est quel CO, déjà ? » — personne ne devrait avoir à mémoriser un identifiant pour savoir où en est un chantier.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3675888" cy="3840480"/>
          </a:xfrm>
          <a:prstGeom prst="roundRect">
            <a:avLst>
              <a:gd name="adj" fmla="val 2239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8424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7693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21868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Synchroteam sait « où et qui » — pas où chaque intervention en est dans son cycle de vie.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collaborateurs jonglent avec des identifiants COxxxx au lieu de sites, clients et véhicules.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COPIL pilote sans vue d'ensemble : blocages et écarts se suivent à la main.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675888" cy="3840480"/>
          </a:xfrm>
          <a:prstGeom prst="roundRect">
            <a:avLst>
              <a:gd name="adj" fmla="val 2239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98424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4CC3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97693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0" y="2468880"/>
            <a:ext cx="321868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couche locale : 67 932 interventions et 3 600 projets synchronisés en continu (60 s), cherchables par métier.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 site-first : 899 sites en pastilles à anneau d'état, sites bloqués en tête, navigation Site → CO → bus.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tables business_* (inventaire, véhicules, écarts) lues depuis Google Sheets ; un serveur MCP en lecture seule pour les IA.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83880" y="1783080"/>
            <a:ext cx="3675888" cy="3840480"/>
          </a:xfrm>
          <a:prstGeom prst="roundRect">
            <a:avLst>
              <a:gd name="adj" fmla="val 2239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198424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3DDC84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97693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0" y="2468880"/>
            <a:ext cx="321868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règle zéro : on n'écrit JAMAIS dans le système de production — tout vit dans des tables appartenant à SVT.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Écouter la donnée : le flux géolocalise le site, pas le véhicule — donc la carte pense « site » d'abord.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moteur de recherche métier bat n'importe quelle discipline de nommage : personne ne devrait mémoriser un identifiant.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5852160"/>
            <a:ext cx="1117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67 932 interventions  ·  3 600 projets  ·  899 sites  ·  rafraîchi toutes les 60 s  ·  24/7 sur pag-win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PROBLEME - ACTION - APPRIS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LE CONTRÔLEUR DE GIROUETTES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schéma que le switch — en plus grand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doc, des trames illisibles à 4800 bauds — jusqu'au soir où un glyphe deviné s'affiche sur le panneau : la géométrie était prouvée.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3675888" cy="3703320"/>
          </a:xfrm>
          <a:prstGeom prst="roundRect">
            <a:avLst>
              <a:gd name="adj" fmla="val 2239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12140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1409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32186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8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Hanover, Mobitec, Lumiplan : chaque famille exige le logiciel de son vendeur — licences et disponibilité hors de contrôle.</a:t>
            </a:r>
            <a:endParaRPr lang="en-US" sz="108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8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est contractuellement responsable d'équipements qu'elle ne peut piloter qu'avec la permission d'un tiers.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43400" y="1920240"/>
            <a:ext cx="3675888" cy="3703320"/>
          </a:xfrm>
          <a:prstGeom prst="roundRect">
            <a:avLst>
              <a:gd name="adj" fmla="val 2239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12140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4CC3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11409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0" y="2606040"/>
            <a:ext cx="32186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8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Capturer → décoder → rejouer → encapsuler : les protocoles rétro-conçus par diff de captures, sur panneau réel.</a:t>
            </a:r>
            <a:endParaRPr lang="en-US" sz="108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8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Hanover : OPÉRATIONNEL (bitmaps arbitraires). Mobitec : texte natif décodé — vérifié jusqu'au test de falsification (checksum faux → rejet). Lumiplan : capture en cours.</a:t>
            </a:r>
            <a:endParaRPr lang="en-US" sz="108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8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~46 000 lignes (Python + C/C++), firmware ESP32 double bus, carte KiCad v1 vers un boîtier de série.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83880" y="1920240"/>
            <a:ext cx="3675888" cy="3703320"/>
          </a:xfrm>
          <a:prstGeom prst="roundRect">
            <a:avLst>
              <a:gd name="adj" fmla="val 2239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12140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3DDC84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11409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0" y="2606040"/>
            <a:ext cx="321868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8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méthode vaut plus que l'exploit : le playbook écrit rend le décodage répétable par tout dev SVT.</a:t>
            </a:r>
            <a:endParaRPr lang="en-US" sz="108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8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meilleure validation est indépendante : un collègue (Hanover_Diag) a retrouvé la même table de commandes — deux bancs, un même protocole.</a:t>
            </a:r>
            <a:endParaRPr lang="en-US" sz="108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8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L'honnêteté dans le code : pas de pilote tant qu'une trame réelle n'est pas vérifiée sur matériel.</a:t>
            </a:r>
            <a:endParaRPr lang="en-US" sz="1080" dirty="0"/>
          </a:p>
        </p:txBody>
      </p:sp>
      <p:pic>
        <p:nvPicPr>
          <p:cNvPr id="19" name="Image 0" descr="/tmp/claude-0/-home-user-abysse8/ac194e7e-6269-5e67-b723-29d3d107b6da/scratchpad/oldmedia/image-14-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742432"/>
            <a:ext cx="1216152" cy="6858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874520" y="58978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preuve d'établi : bitmap arbitraire sur girouette Hanover réelle, émis par l'ESP32 — vidéo complète sur abysse8.github.io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PROBLEME - ACTION - APPRIS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LE TERRAIN AUTOMATISÉ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le Wi-Fi n'existe pas et que rien n'est observable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Pendant que l'équipe dort, l'établi travaille : une caméra juge chaque essai, et le matin, la réponse attend.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3675888" cy="3840480"/>
          </a:xfrm>
          <a:prstGeom prst="roundRect">
            <a:avLst>
              <a:gd name="adj" fmla="val 2239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8424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7693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21868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Dépôts et bords de route ont rarement un réseau fiable — l'outillage moderne suppose internet.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défilement Mobitec ne peut être produit par aucun outil vendeur sur notre panneau : impossible de sniffer ce qu'on ne peut pas provoquer.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675888" cy="3840480"/>
          </a:xfrm>
          <a:prstGeom prst="roundRect">
            <a:avLst>
              <a:gd name="adj" fmla="val 2239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98424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4CC3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97693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0" y="2468880"/>
            <a:ext cx="321868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workbench SMS : un routeur LTE Teltonika RUT241 — le matériel que SVT pose déjà dans les bus — relaie les textos vers un agent IA d'établi. 43 tests unitaires verts.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L'oracle caméra : la main émet une trame candidate, l'œil photographie le panneau, l'IA juge la photo — 5 registres × 256 valeurs = 1 280 expériences, une nuit d'établi.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83880" y="1783080"/>
            <a:ext cx="3675888" cy="3840480"/>
          </a:xfrm>
          <a:prstGeom prst="roundRect">
            <a:avLst>
              <a:gd name="adj" fmla="val 2239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198424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3DDC84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97693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0" y="2468880"/>
            <a:ext cx="321868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sécurité par défaut n'est pas une option : listes blanches, jetons, émission désarmée tant qu'on n'arme pas explicitement.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on ne peut pas observer, on expérimente — une seule variable par essai, reprise sur coupure, résultats journalisés.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SMS est le transport qui est toujours là : l'automatisation doit rejoindre le terrain, pas l'inverse.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5852160"/>
            <a:ext cx="1117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F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RUT241 : 43 tests verts  ·  oracle : 1 280 expériences autonomes  ·  zéro dépendance externe (Python stdlib)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PROBLEME - ACTION - APPRIS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LA BILLETTIQUE EMBARQUÉE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chaque boîtier du bus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UC à mettre à jour = trois clés USB et une matinée — ou un seul geste, depuis un navigateur.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3675888" cy="4023360"/>
          </a:xfrm>
          <a:prstGeom prst="roundRect">
            <a:avLst>
              <a:gd name="adj" fmla="val 2239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8424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7693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21868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mises à jour des UC se font à la clé USB, une unité à la fois — lent, manuel, source d'erreurs.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chaîne billettique (UC, valideurs, imprimante) reste opaque : pas d'outillage SVT pour la diagnostiquer.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675888" cy="4023360"/>
          </a:xfrm>
          <a:prstGeom prst="roundRect">
            <a:avLst>
              <a:gd name="adj" fmla="val 2239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98424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4CC3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97693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0" y="2468880"/>
            <a:ext cx="321868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disque USB virtuel : l'ESP32-S3 présente les mises à jour comme une clé en lecture seule — bascule OFF/M0/M1 par série, bouton ou HTTP.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UC en parallèle : chaque ESP32-P4 isole le réseau de son UC (même IP par défaut pour tous) ; un cockpit navigateur avec un terminal par UC et une commande diffusée à tous.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de l'UC d'établi en SSH, en lecture seule, par playbook écrit.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83880" y="1783080"/>
            <a:ext cx="3675888" cy="4023360"/>
          </a:xfrm>
          <a:prstGeom prst="roundRect">
            <a:avLst>
              <a:gd name="adj" fmla="val 2239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198424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3DDC84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976933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APPRIS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0" y="2468880"/>
            <a:ext cx="321868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seule d'abord : apprendre un système sans en modifier un octet — l'automatisation vient après la sûreté.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parallélisme se conçoit : isoler les réseaux vaut mieux que renuméroter les machines.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même discipline s'étend : ce que les girouettes ont appris, la billettique le réutilise (et le FPGA KV260 prépare la suite vidéo, avec un modèle de référence pixel à pixel).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PROBLEME - ACTION - APPRIS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LA BOUCLE BOUCLÉE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format, c'est déjà ma façon de travailler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→ Action → Appris n'est pas un habillage de slides : chaque semaine de travail est déjà documentée ainsi — auditable, preuves à l'appui.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5486400" cy="4160520"/>
          </a:xfrm>
          <a:prstGeom prst="roundRect">
            <a:avLst>
              <a:gd name="adj" fmla="val 1978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488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3DDC84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41525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SUIVI DE PROGRESSION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65176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principe — 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semaine de travail est reconstruite depuis les preuves réelles (sessions de développement, échanges) — jamais de mémoire.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format — 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Eurecia porte son commentaire Problème → Action → Apprentissage → À mieux faire, avec citations de preuves et score de confiance.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vrai — 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éléments de preuve → 19 lignes proposées sur une semaine type ; les sujets personnels ne deviennent jamais de fausses entrées.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ça compte — 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n'avez pas à me croire sur parole : le travail des trois derniers mois est traçable, ligne par ligne.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72200" y="1920240"/>
            <a:ext cx="5504688" cy="4160520"/>
          </a:xfrm>
          <a:prstGeom prst="roundRect">
            <a:avLst>
              <a:gd name="adj" fmla="val 1978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21488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4CC3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141525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LE MATÉRIEL, DÉJÀ AVANT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46520" y="2651760"/>
            <a:ext cx="4983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L'inventaire illustré — 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 références SVT jointes aux références fournisseur, 111 photos produits en URLs stables — l'inventaire Google Sheets ne casse plus jamais ses images.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fil rouge — 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premier inventaire illustré (avril) au Stock UC en production (août) : le même problème — savoir ce qu'on a, où, dans quel état — attaqué encore et encore, jusqu'à l'app que l'équipe utilise.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passerelle unique — </a:t>
            </a:r>
            <a:pPr indent="0" marL="0">
              <a:spcAft>
                <a:spcPts val="9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chemins publics → 5 services locaux derrière un seul tunnel : tout le parc d'outils se démontre depuis n'importe où.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PROBLEME - ACTION - APPRIS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TROIS MOIS, EN CHIFFRES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chiffres honnêtes, déjà mesurables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1173968" cy="1737360"/>
          </a:xfrm>
          <a:prstGeom prst="roundRect">
            <a:avLst>
              <a:gd name="adj" fmla="val 4737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7830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245973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dépôts de code livrés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l'écosystème SVT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337560" y="17830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95 000+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337560" y="245973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de code sur la chaîne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complète (web, Python, C/C++)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035040" y="17830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78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→ 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035040" y="245973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d'édition vendeurs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 un seul flux SVT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732520" y="17830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F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732520" y="2459736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 suivis en direct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la première réception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520440"/>
            <a:ext cx="5486400" cy="2651760"/>
          </a:xfrm>
          <a:prstGeom prst="roundRect">
            <a:avLst>
              <a:gd name="adj" fmla="val 3103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730752"/>
            <a:ext cx="4983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—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COPIL voit le stock, les sites et les blocages en direct — sans dépendre d'un tableur tenu à la main.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—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débit d'études monte sans embauche : la rédaction devient une relecture guidée, les erreurs sont attrapées à la porte.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Indépendance —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capacité de SVT à servir ses contrats ne dépend plus du bon vouloir logiciel de trois vendeurs de girouettes.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3520440"/>
            <a:ext cx="5504688" cy="2651760"/>
          </a:xfrm>
          <a:prstGeom prst="roundRect">
            <a:avLst>
              <a:gd name="adj" fmla="val 3103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730752"/>
            <a:ext cx="4983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—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d'installateur à intégrateur-constructeur : l'entreprise qui comprend le véhicule plus profondément que les revendeurs.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Transmissible —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écrits, design system commun, contrats d'API versionnés — un nouveau dev SVT est productif vite.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Mesuré — </a:t>
            </a:r>
            <a:pPr indent="0" marL="0">
              <a:spcAft>
                <a:spcPts val="900"/>
              </a:spcAft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affirmation embarque sa métrique : lots pilotes, chronométrages avant/après, statistiques de porte.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PROBLEME - ACTION - APPRIS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LA PROCHAINE HISTOIRE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drone : reconstruire les sites en 3D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étude de site aujourd'hui : une visite, des photos, un mètre — et la cote qui manque se découvre au bureau, à 80 km du site.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3675888" cy="3977640"/>
          </a:xfrm>
          <a:prstGeom prst="roundRect">
            <a:avLst>
              <a:gd name="adj" fmla="val 2239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8424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85149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976933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21868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étude de site ne vit qu'une fois : ce qui n'a pas été mesuré ce jour-là est perdu.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photos plates ne répondent pas aux questions de demain — et chaque cote oubliée coûte un aller-retour.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implantations se décident sur des plans parfois anciens, parfois faux.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675888" cy="3977640"/>
          </a:xfrm>
          <a:prstGeom prst="roundRect">
            <a:avLst>
              <a:gd name="adj" fmla="val 2239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984248"/>
            <a:ext cx="1463040" cy="310896"/>
          </a:xfrm>
          <a:prstGeom prst="roundRect">
            <a:avLst>
              <a:gd name="adj" fmla="val 50000"/>
            </a:avLst>
          </a:prstGeom>
          <a:solidFill>
            <a:srgbClr val="F0B429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976933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0" y="2468880"/>
            <a:ext cx="321868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drone photographie le site sous tous les angles ; la photogrammétrie en reconstruit un jumeau 3D — dépôt, station, atelier.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mesure à volonté, on rejoue la visite, on archive l'état avant / après chantier.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L'atout maison : le moteur 3D des rapports rend déjà des bus entiers — poser le site autour est la suite logique. Et le vol, je connais : contrôleur de vol construit de mes mains (stabilisation PID &lt; 10 ms sur STM32).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83880" y="1783080"/>
            <a:ext cx="3675888" cy="3977640"/>
          </a:xfrm>
          <a:prstGeom prst="roundRect">
            <a:avLst>
              <a:gd name="adj" fmla="val 2239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1984248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3DDC84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1976933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OUVRE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0" y="2468880"/>
            <a:ext cx="3218688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études de site mesurables, rejouables, archivées — la visite qui ne se perd plus jamais.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+ véhicule dans la même scène 3D : l'implantation se simule avant de percer le premier trou.</a:t>
            </a:r>
            <a:endParaRPr lang="en-US" sz="11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livrable client spectaculaire — et moins de kilomètres pour plus de réponses.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5897880"/>
            <a:ext cx="11173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même logique que Stock UC : capturer une fois, correctement — et ne plus jamais perdre l'information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PROBLEME - ACTION - APPRIS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F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LA PROPOSITION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stage : la promesse devient un rythme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semaines ont suffi une fois. Un cadre de stage en fait une cadence : un changement mesurable toutes les deux semaines, pendant trois mois.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3675888" cy="3063240"/>
          </a:xfrm>
          <a:prstGeom prst="roundRect">
            <a:avLst>
              <a:gd name="adj" fmla="val 2687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4028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32965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31520" y="2724912"/>
            <a:ext cx="32461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 1-2 — </a:t>
            </a:r>
            <a:pPr indent="0" marL="0">
              <a:spcAft>
                <a:spcPts val="900"/>
              </a:spcAft>
              <a:buNone/>
            </a:pPr>
            <a:r>
              <a:rPr lang="en-US" sz="108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UC v2 : import des listes attendues (CSV) — un manquant se voit AVANT la fin du chantier, plus jamais après.</a:t>
            </a: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 3-4 — </a:t>
            </a:r>
            <a:pPr indent="0" marL="0">
              <a:spcAft>
                <a:spcPts val="900"/>
              </a:spcAft>
              <a:buNone/>
            </a:pPr>
            <a:r>
              <a:rPr lang="en-US" sz="108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pilote Hanover de référence : fusionner notre table de commandes avec Hanover_Diag, avec son auteur.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43400" y="2011680"/>
            <a:ext cx="3675888" cy="3063240"/>
          </a:xfrm>
          <a:prstGeom prst="roundRect">
            <a:avLst>
              <a:gd name="adj" fmla="val 2687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24028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BC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232965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0" y="2724912"/>
            <a:ext cx="32461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 5-6 — </a:t>
            </a:r>
            <a:pPr indent="0" marL="0">
              <a:spcAft>
                <a:spcPts val="900"/>
              </a:spcAft>
              <a:buNone/>
            </a:pPr>
            <a:r>
              <a:rPr lang="en-US" sz="108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/rapport en production sur les contrats d'études en cours ; métrique heures-par-étude, avant / après.</a:t>
            </a: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 7-8 — </a:t>
            </a:r>
            <a:pPr indent="0" marL="0">
              <a:spcAft>
                <a:spcPts val="900"/>
              </a:spcAft>
              <a:buNone/>
            </a:pPr>
            <a:r>
              <a:rPr lang="en-US" sz="108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Mobitec hors du mode gabarit : campagne capture-diff contre l'éditeur vendeur.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8183880" y="2011680"/>
            <a:ext cx="3675888" cy="3063240"/>
          </a:xfrm>
          <a:prstGeom prst="roundRect">
            <a:avLst>
              <a:gd name="adj" fmla="val 2687"/>
            </a:avLst>
          </a:prstGeom>
          <a:solidFill>
            <a:srgbClr val="13273D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24028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3FCF6E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232965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1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0" y="2724912"/>
            <a:ext cx="32461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3F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 9-10 — </a:t>
            </a:r>
            <a:pPr indent="0" marL="0">
              <a:spcAft>
                <a:spcPts val="900"/>
              </a:spcAft>
              <a:buNone/>
            </a:pPr>
            <a:r>
              <a:rPr lang="en-US" sz="108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&amp; santé rapport branchés dans la routine COPIL — les deux questions que le comité pose vraiment.</a:t>
            </a: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3F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 11-12 — </a:t>
            </a:r>
            <a:pPr indent="0" marL="0">
              <a:spcAft>
                <a:spcPts val="900"/>
              </a:spcAft>
              <a:buNone/>
            </a:pPr>
            <a:r>
              <a:rPr lang="en-US" sz="108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transfert : playbooks à jour, formation courte à l'équipe, bilan chiffré de chaque mission.</a:t>
            </a:r>
            <a:endParaRPr lang="en-US" sz="1080" dirty="0"/>
          </a:p>
          <a:p>
            <a:pPr indent="0" marL="0">
              <a:buNone/>
            </a:pPr>
            <a:r>
              <a:rPr lang="en-US" sz="1080" b="1" dirty="0">
                <a:solidFill>
                  <a:srgbClr val="3F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— </a:t>
            </a:r>
            <a:pPr indent="0" marL="0">
              <a:spcAft>
                <a:spcPts val="900"/>
              </a:spcAft>
              <a:buNone/>
            </a:pPr>
            <a:r>
              <a:rPr lang="en-US" sz="108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essai de photogrammétrie sur un site pilote — la prochaine histoire commence.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02920" y="5257800"/>
            <a:ext cx="11173968" cy="914400"/>
          </a:xfrm>
          <a:prstGeom prst="roundRect">
            <a:avLst>
              <a:gd name="adj" fmla="val 9000"/>
            </a:avLst>
          </a:prstGeom>
          <a:solidFill>
            <a:srgbClr val="1A3350"/>
          </a:solidFill>
          <a:ln w="9525">
            <a:solidFill>
              <a:srgbClr val="2C4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486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3FC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cadre : </a:t>
            </a:r>
            <a:pPr indent="0" marL="0"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écrits, point d'étape toutes les deux semaines, livrables mesurés — et le suivi de progression documente déjà tout en Problème → Action → Apprentissage, preuves à l'appui.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SVT COMMUNICATION  /  PROBLEME - ACTION - APPRIS  /  JULIEN ABDOU GONZALES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147572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SWITCH PERDU A LANCÉ TOUT ÇA.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0" y="278892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semaines ont suffi pour le premier changement réel.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4C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Donnez-moi trois mois cadrés — voyons ce qu'on construit.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— place aux questions et à la démonstration en direct.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51206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Julien Abdou Gonzales  ·  julienabdougonzales@gmail.com  ·  abysse8.github.io  ·  github.com/abysse8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71600" y="5577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DB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UC : svt-communication.vercel.app — scannez, la vue COPIL suit.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2026-08-06T17:08:29Z</dcterms:created>
  <dcterms:modified xsi:type="dcterms:W3CDTF">2026-08-06T17:08:29Z</dcterms:modified>
</cp:coreProperties>
</file>